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Canva Sans" panose="020B0604020202020204" charset="0"/>
      <p:regular r:id="rId16"/>
    </p:embeddedFont>
    <p:embeddedFont>
      <p:font typeface="Canva Sans Bold" panose="020B0604020202020204" charset="0"/>
      <p:regular r:id="rId17"/>
    </p:embeddedFont>
    <p:embeddedFont>
      <p:font typeface="TT Interphases" panose="020B0604020202020204" charset="0"/>
      <p:regular r:id="rId18"/>
    </p:embeddedFont>
    <p:embeddedFont>
      <p:font typeface="TT Interphases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53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1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7.svg"/><Relationship Id="rId4" Type="http://schemas.openxmlformats.org/officeDocument/2006/relationships/image" Target="../media/image1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8.png"/><Relationship Id="rId10" Type="http://schemas.openxmlformats.org/officeDocument/2006/relationships/image" Target="../media/image16.svg"/><Relationship Id="rId4" Type="http://schemas.openxmlformats.org/officeDocument/2006/relationships/image" Target="../media/image3.svg"/><Relationship Id="rId9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26617">
            <a:off x="3395976" y="3190853"/>
            <a:ext cx="20299771" cy="6754287"/>
          </a:xfrm>
          <a:custGeom>
            <a:avLst/>
            <a:gdLst/>
            <a:ahLst/>
            <a:cxnLst/>
            <a:rect l="l" t="t" r="r" b="b"/>
            <a:pathLst>
              <a:path w="20299771" h="6754287">
                <a:moveTo>
                  <a:pt x="0" y="0"/>
                </a:moveTo>
                <a:lnTo>
                  <a:pt x="20299771" y="0"/>
                </a:lnTo>
                <a:lnTo>
                  <a:pt x="20299771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841392" y="587451"/>
            <a:ext cx="9122342" cy="9105756"/>
          </a:xfrm>
          <a:custGeom>
            <a:avLst/>
            <a:gdLst/>
            <a:ahLst/>
            <a:cxnLst/>
            <a:rect l="l" t="t" r="r" b="b"/>
            <a:pathLst>
              <a:path w="9122342" h="9105756">
                <a:moveTo>
                  <a:pt x="0" y="0"/>
                </a:moveTo>
                <a:lnTo>
                  <a:pt x="9122342" y="0"/>
                </a:lnTo>
                <a:lnTo>
                  <a:pt x="9122342" y="9105756"/>
                </a:lnTo>
                <a:lnTo>
                  <a:pt x="0" y="91057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157946">
            <a:off x="11757720" y="2100861"/>
            <a:ext cx="7674174" cy="2885362"/>
          </a:xfrm>
          <a:custGeom>
            <a:avLst/>
            <a:gdLst/>
            <a:ahLst/>
            <a:cxnLst/>
            <a:rect l="l" t="t" r="r" b="b"/>
            <a:pathLst>
              <a:path w="7674174" h="2885362">
                <a:moveTo>
                  <a:pt x="0" y="0"/>
                </a:moveTo>
                <a:lnTo>
                  <a:pt x="7674174" y="0"/>
                </a:lnTo>
                <a:lnTo>
                  <a:pt x="7674174" y="2885362"/>
                </a:lnTo>
                <a:lnTo>
                  <a:pt x="0" y="28853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32984"/>
            </a:stretch>
          </a:blipFill>
        </p:spPr>
      </p:sp>
      <p:sp>
        <p:nvSpPr>
          <p:cNvPr id="5" name="Freeform 5"/>
          <p:cNvSpPr/>
          <p:nvPr/>
        </p:nvSpPr>
        <p:spPr>
          <a:xfrm rot="2157946" flipV="1">
            <a:off x="9224716" y="5115762"/>
            <a:ext cx="7674174" cy="3837087"/>
          </a:xfrm>
          <a:custGeom>
            <a:avLst/>
            <a:gdLst/>
            <a:ahLst/>
            <a:cxnLst/>
            <a:rect l="l" t="t" r="r" b="b"/>
            <a:pathLst>
              <a:path w="7674174" h="3837087">
                <a:moveTo>
                  <a:pt x="0" y="3837087"/>
                </a:moveTo>
                <a:lnTo>
                  <a:pt x="7674174" y="3837087"/>
                </a:lnTo>
                <a:lnTo>
                  <a:pt x="7674174" y="0"/>
                </a:lnTo>
                <a:lnTo>
                  <a:pt x="0" y="0"/>
                </a:lnTo>
                <a:lnTo>
                  <a:pt x="0" y="383708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761626" y="2110121"/>
            <a:ext cx="6853883" cy="685388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7CFC3">
                    <a:alpha val="100000"/>
                  </a:srgbClr>
                </a:gs>
                <a:gs pos="100000">
                  <a:srgbClr val="F08EA2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962799" y="2311294"/>
            <a:ext cx="6451538" cy="645153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 flipH="1">
            <a:off x="16818832" y="0"/>
            <a:ext cx="2071591" cy="4205152"/>
          </a:xfrm>
          <a:custGeom>
            <a:avLst/>
            <a:gdLst/>
            <a:ahLst/>
            <a:cxnLst/>
            <a:rect l="l" t="t" r="r" b="b"/>
            <a:pathLst>
              <a:path w="2071591" h="4205152">
                <a:moveTo>
                  <a:pt x="2071591" y="0"/>
                </a:moveTo>
                <a:lnTo>
                  <a:pt x="0" y="0"/>
                </a:lnTo>
                <a:lnTo>
                  <a:pt x="0" y="4205152"/>
                </a:lnTo>
                <a:lnTo>
                  <a:pt x="2071591" y="4205152"/>
                </a:lnTo>
                <a:lnTo>
                  <a:pt x="2071591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01169" y="9258300"/>
            <a:ext cx="672708" cy="672708"/>
          </a:xfrm>
          <a:custGeom>
            <a:avLst/>
            <a:gdLst/>
            <a:ahLst/>
            <a:cxnLst/>
            <a:rect l="l" t="t" r="r" b="b"/>
            <a:pathLst>
              <a:path w="672708" h="672708">
                <a:moveTo>
                  <a:pt x="0" y="0"/>
                </a:moveTo>
                <a:lnTo>
                  <a:pt x="672709" y="0"/>
                </a:lnTo>
                <a:lnTo>
                  <a:pt x="672709" y="672708"/>
                </a:lnTo>
                <a:lnTo>
                  <a:pt x="0" y="672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481992" y="-3498726"/>
            <a:ext cx="4793807" cy="4802539"/>
          </a:xfrm>
          <a:custGeom>
            <a:avLst/>
            <a:gdLst/>
            <a:ahLst/>
            <a:cxnLst/>
            <a:rect l="l" t="t" r="r" b="b"/>
            <a:pathLst>
              <a:path w="4793807" h="4802539">
                <a:moveTo>
                  <a:pt x="0" y="0"/>
                </a:moveTo>
                <a:lnTo>
                  <a:pt x="4793807" y="0"/>
                </a:lnTo>
                <a:lnTo>
                  <a:pt x="4793807" y="4802539"/>
                </a:lnTo>
                <a:lnTo>
                  <a:pt x="0" y="4802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108917" y="8366098"/>
            <a:ext cx="4940090" cy="4949088"/>
          </a:xfrm>
          <a:custGeom>
            <a:avLst/>
            <a:gdLst/>
            <a:ahLst/>
            <a:cxnLst/>
            <a:rect l="l" t="t" r="r" b="b"/>
            <a:pathLst>
              <a:path w="4940090" h="4949088">
                <a:moveTo>
                  <a:pt x="0" y="0"/>
                </a:moveTo>
                <a:lnTo>
                  <a:pt x="4940090" y="0"/>
                </a:lnTo>
                <a:lnTo>
                  <a:pt x="4940090" y="4949088"/>
                </a:lnTo>
                <a:lnTo>
                  <a:pt x="0" y="49490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116387" y="583666"/>
            <a:ext cx="781082" cy="781082"/>
          </a:xfrm>
          <a:custGeom>
            <a:avLst/>
            <a:gdLst/>
            <a:ahLst/>
            <a:cxnLst/>
            <a:rect l="l" t="t" r="r" b="b"/>
            <a:pathLst>
              <a:path w="781082" h="781082">
                <a:moveTo>
                  <a:pt x="0" y="0"/>
                </a:moveTo>
                <a:lnTo>
                  <a:pt x="781081" y="0"/>
                </a:lnTo>
                <a:lnTo>
                  <a:pt x="781081" y="781082"/>
                </a:lnTo>
                <a:lnTo>
                  <a:pt x="0" y="7810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475326" y="1088507"/>
            <a:ext cx="9403569" cy="2880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60"/>
              </a:lnSpc>
              <a:spcBef>
                <a:spcPct val="0"/>
              </a:spcBef>
            </a:pPr>
            <a:r>
              <a:rPr lang="en-US" sz="7200" b="1" u="none" strike="noStrike">
                <a:solidFill>
                  <a:srgbClr val="20419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Parcel Label Field Completeness Inspection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0622" y="5306242"/>
            <a:ext cx="11603948" cy="3364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63"/>
              </a:lnSpc>
              <a:spcBef>
                <a:spcPct val="0"/>
              </a:spcBef>
            </a:pPr>
            <a:r>
              <a:rPr lang="en-US" sz="3956" b="1" u="none" strike="noStrike">
                <a:solidFill>
                  <a:srgbClr val="862C87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Team Members:</a:t>
            </a:r>
          </a:p>
          <a:p>
            <a:pPr marL="0" lvl="0" indent="0" algn="l">
              <a:lnSpc>
                <a:spcPts val="5425"/>
              </a:lnSpc>
              <a:spcBef>
                <a:spcPct val="0"/>
              </a:spcBef>
            </a:pPr>
            <a:r>
              <a:rPr lang="en-US" sz="4238" u="none" strike="noStrike">
                <a:solidFill>
                  <a:srgbClr val="862C87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Siti Radhiah Binti Megat Azahari</a:t>
            </a:r>
          </a:p>
          <a:p>
            <a:pPr marL="0" lvl="0" indent="0" algn="l">
              <a:lnSpc>
                <a:spcPts val="5425"/>
              </a:lnSpc>
              <a:spcBef>
                <a:spcPct val="0"/>
              </a:spcBef>
            </a:pPr>
            <a:r>
              <a:rPr lang="en-US" sz="4238" u="none" strike="noStrike">
                <a:solidFill>
                  <a:srgbClr val="862C87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Hazwani Binti Yusoff</a:t>
            </a:r>
          </a:p>
          <a:p>
            <a:pPr marL="0" lvl="0" indent="0" algn="l">
              <a:lnSpc>
                <a:spcPts val="5425"/>
              </a:lnSpc>
              <a:spcBef>
                <a:spcPct val="0"/>
              </a:spcBef>
            </a:pPr>
            <a:r>
              <a:rPr lang="en-US" sz="4238" u="none" strike="noStrike">
                <a:solidFill>
                  <a:srgbClr val="862C87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Aizatul Afina Binti Ahmad Suhaimi</a:t>
            </a:r>
          </a:p>
          <a:p>
            <a:pPr marL="0" lvl="0" indent="0" algn="l">
              <a:lnSpc>
                <a:spcPts val="5425"/>
              </a:lnSpc>
              <a:spcBef>
                <a:spcPct val="0"/>
              </a:spcBef>
            </a:pPr>
            <a:r>
              <a:rPr lang="en-US" sz="4238" u="none" strike="noStrike">
                <a:solidFill>
                  <a:srgbClr val="862C87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Umie Umaira Binti Mohamad Azhar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5326" y="4283113"/>
            <a:ext cx="9403569" cy="653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40"/>
              </a:lnSpc>
              <a:spcBef>
                <a:spcPct val="0"/>
              </a:spcBef>
            </a:pPr>
            <a:r>
              <a:rPr lang="en-US" sz="4800" b="1">
                <a:solidFill>
                  <a:srgbClr val="4C489E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AiScream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7CFC3">
                <a:alpha val="100000"/>
              </a:srgbClr>
            </a:gs>
            <a:gs pos="100000">
              <a:srgbClr val="F08EA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34666" y="2490014"/>
            <a:ext cx="10588527" cy="6277746"/>
            <a:chOff x="0" y="0"/>
            <a:chExt cx="2788748" cy="16533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88748" cy="1653398"/>
            </a:xfrm>
            <a:custGeom>
              <a:avLst/>
              <a:gdLst/>
              <a:ahLst/>
              <a:cxnLst/>
              <a:rect l="l" t="t" r="r" b="b"/>
              <a:pathLst>
                <a:path w="2788748" h="1653398">
                  <a:moveTo>
                    <a:pt x="21204" y="0"/>
                  </a:moveTo>
                  <a:lnTo>
                    <a:pt x="2767544" y="0"/>
                  </a:lnTo>
                  <a:cubicBezTo>
                    <a:pt x="2773168" y="0"/>
                    <a:pt x="2778561" y="2234"/>
                    <a:pt x="2782537" y="6210"/>
                  </a:cubicBezTo>
                  <a:cubicBezTo>
                    <a:pt x="2786514" y="10187"/>
                    <a:pt x="2788748" y="15580"/>
                    <a:pt x="2788748" y="21204"/>
                  </a:cubicBezTo>
                  <a:lnTo>
                    <a:pt x="2788748" y="1632194"/>
                  </a:lnTo>
                  <a:cubicBezTo>
                    <a:pt x="2788748" y="1643905"/>
                    <a:pt x="2779255" y="1653398"/>
                    <a:pt x="2767544" y="1653398"/>
                  </a:cubicBezTo>
                  <a:lnTo>
                    <a:pt x="21204" y="1653398"/>
                  </a:lnTo>
                  <a:cubicBezTo>
                    <a:pt x="15580" y="1653398"/>
                    <a:pt x="10187" y="1651164"/>
                    <a:pt x="6210" y="1647188"/>
                  </a:cubicBezTo>
                  <a:cubicBezTo>
                    <a:pt x="2234" y="1643211"/>
                    <a:pt x="0" y="1637818"/>
                    <a:pt x="0" y="1632194"/>
                  </a:cubicBezTo>
                  <a:lnTo>
                    <a:pt x="0" y="21204"/>
                  </a:lnTo>
                  <a:cubicBezTo>
                    <a:pt x="0" y="15580"/>
                    <a:pt x="2234" y="10187"/>
                    <a:pt x="6210" y="6210"/>
                  </a:cubicBezTo>
                  <a:cubicBezTo>
                    <a:pt x="10187" y="2234"/>
                    <a:pt x="15580" y="0"/>
                    <a:pt x="21204" y="0"/>
                  </a:cubicBezTo>
                  <a:close/>
                </a:path>
              </a:pathLst>
            </a:custGeom>
            <a:solidFill>
              <a:srgbClr val="F2F3F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788748" cy="1710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7883" y="-6279084"/>
            <a:ext cx="8862696" cy="8878839"/>
          </a:xfrm>
          <a:custGeom>
            <a:avLst/>
            <a:gdLst/>
            <a:ahLst/>
            <a:cxnLst/>
            <a:rect l="l" t="t" r="r" b="b"/>
            <a:pathLst>
              <a:path w="8862696" h="8878839">
                <a:moveTo>
                  <a:pt x="0" y="0"/>
                </a:moveTo>
                <a:lnTo>
                  <a:pt x="8862696" y="0"/>
                </a:lnTo>
                <a:lnTo>
                  <a:pt x="8862696" y="8878839"/>
                </a:lnTo>
                <a:lnTo>
                  <a:pt x="0" y="88788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981365">
            <a:off x="3811636" y="3648079"/>
            <a:ext cx="20299771" cy="6754287"/>
          </a:xfrm>
          <a:custGeom>
            <a:avLst/>
            <a:gdLst/>
            <a:ahLst/>
            <a:cxnLst/>
            <a:rect l="l" t="t" r="r" b="b"/>
            <a:pathLst>
              <a:path w="20299771" h="6754287">
                <a:moveTo>
                  <a:pt x="0" y="0"/>
                </a:moveTo>
                <a:lnTo>
                  <a:pt x="20299771" y="0"/>
                </a:lnTo>
                <a:lnTo>
                  <a:pt x="20299771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402338" y="1072902"/>
            <a:ext cx="4689333" cy="4896450"/>
          </a:xfrm>
          <a:custGeom>
            <a:avLst/>
            <a:gdLst/>
            <a:ahLst/>
            <a:cxnLst/>
            <a:rect l="l" t="t" r="r" b="b"/>
            <a:pathLst>
              <a:path w="4689333" h="4896450">
                <a:moveTo>
                  <a:pt x="0" y="0"/>
                </a:moveTo>
                <a:lnTo>
                  <a:pt x="4689333" y="0"/>
                </a:lnTo>
                <a:lnTo>
                  <a:pt x="4689333" y="4896450"/>
                </a:lnTo>
                <a:lnTo>
                  <a:pt x="0" y="48964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17187372" y="6347008"/>
            <a:ext cx="1519526" cy="3084508"/>
          </a:xfrm>
          <a:custGeom>
            <a:avLst/>
            <a:gdLst/>
            <a:ahLst/>
            <a:cxnLst/>
            <a:rect l="l" t="t" r="r" b="b"/>
            <a:pathLst>
              <a:path w="1519526" h="3084508">
                <a:moveTo>
                  <a:pt x="1519526" y="3084508"/>
                </a:moveTo>
                <a:lnTo>
                  <a:pt x="0" y="3084508"/>
                </a:lnTo>
                <a:lnTo>
                  <a:pt x="0" y="0"/>
                </a:lnTo>
                <a:lnTo>
                  <a:pt x="1519526" y="0"/>
                </a:lnTo>
                <a:lnTo>
                  <a:pt x="1519526" y="3084508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5400000" flipH="1">
            <a:off x="7345876" y="8820306"/>
            <a:ext cx="1186914" cy="2409334"/>
          </a:xfrm>
          <a:custGeom>
            <a:avLst/>
            <a:gdLst/>
            <a:ahLst/>
            <a:cxnLst/>
            <a:rect l="l" t="t" r="r" b="b"/>
            <a:pathLst>
              <a:path w="1186914" h="2409334">
                <a:moveTo>
                  <a:pt x="1186914" y="0"/>
                </a:moveTo>
                <a:lnTo>
                  <a:pt x="0" y="0"/>
                </a:lnTo>
                <a:lnTo>
                  <a:pt x="0" y="2409334"/>
                </a:lnTo>
                <a:lnTo>
                  <a:pt x="1186914" y="2409334"/>
                </a:lnTo>
                <a:lnTo>
                  <a:pt x="1186914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2532606" y="8767760"/>
            <a:ext cx="4726694" cy="490540"/>
            <a:chOff x="0" y="0"/>
            <a:chExt cx="3915949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915949" cy="406400"/>
            </a:xfrm>
            <a:custGeom>
              <a:avLst/>
              <a:gdLst/>
              <a:ahLst/>
              <a:cxnLst/>
              <a:rect l="l" t="t" r="r" b="b"/>
              <a:pathLst>
                <a:path w="3915949" h="406400">
                  <a:moveTo>
                    <a:pt x="3712749" y="0"/>
                  </a:moveTo>
                  <a:cubicBezTo>
                    <a:pt x="3824973" y="0"/>
                    <a:pt x="3915949" y="90976"/>
                    <a:pt x="3915949" y="203200"/>
                  </a:cubicBezTo>
                  <a:cubicBezTo>
                    <a:pt x="3915949" y="315424"/>
                    <a:pt x="3824973" y="406400"/>
                    <a:pt x="37127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7CFC3">
                    <a:alpha val="100000"/>
                  </a:srgbClr>
                </a:gs>
                <a:gs pos="100000">
                  <a:srgbClr val="F08EA2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3915949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258050" y="1403908"/>
            <a:ext cx="10001250" cy="653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  <a:spcBef>
                <a:spcPct val="0"/>
              </a:spcBef>
            </a:pPr>
            <a:r>
              <a:rPr lang="en-US" sz="4800" b="1" u="none" strike="noStrike">
                <a:solidFill>
                  <a:srgbClr val="20419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Problem Statement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71947" y="3753798"/>
            <a:ext cx="9870665" cy="2957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677"/>
              </a:lnSpc>
              <a:spcBef>
                <a:spcPct val="0"/>
              </a:spcBef>
            </a:pPr>
            <a:r>
              <a:rPr lang="en-US" sz="3742" u="none" strike="noStrike">
                <a:solidFill>
                  <a:srgbClr val="4C489E"/>
                </a:solidFill>
                <a:latin typeface="Canva Sans"/>
                <a:ea typeface="Canva Sans"/>
                <a:cs typeface="Canva Sans"/>
                <a:sym typeface="Canva Sans"/>
              </a:rPr>
              <a:t>Manually checking parcel labels can be a hassle for staff, especially when many parcels need to be processed. Missing required fields may cause delivery delays, rejected parcels, and additional rework</a:t>
            </a:r>
          </a:p>
        </p:txBody>
      </p:sp>
      <p:sp>
        <p:nvSpPr>
          <p:cNvPr id="15" name="Freeform 15"/>
          <p:cNvSpPr/>
          <p:nvPr/>
        </p:nvSpPr>
        <p:spPr>
          <a:xfrm>
            <a:off x="291570" y="5251537"/>
            <a:ext cx="6966480" cy="5224860"/>
          </a:xfrm>
          <a:custGeom>
            <a:avLst/>
            <a:gdLst/>
            <a:ahLst/>
            <a:cxnLst/>
            <a:rect l="l" t="t" r="r" b="b"/>
            <a:pathLst>
              <a:path w="6966480" h="5224860">
                <a:moveTo>
                  <a:pt x="0" y="0"/>
                </a:moveTo>
                <a:lnTo>
                  <a:pt x="6966480" y="0"/>
                </a:lnTo>
                <a:lnTo>
                  <a:pt x="6966480" y="5224860"/>
                </a:lnTo>
                <a:lnTo>
                  <a:pt x="0" y="52248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6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607619" flipH="1">
            <a:off x="-7257473" y="3483584"/>
            <a:ext cx="20299771" cy="6754287"/>
          </a:xfrm>
          <a:custGeom>
            <a:avLst/>
            <a:gdLst/>
            <a:ahLst/>
            <a:cxnLst/>
            <a:rect l="l" t="t" r="r" b="b"/>
            <a:pathLst>
              <a:path w="20299771" h="6754287">
                <a:moveTo>
                  <a:pt x="20299771" y="0"/>
                </a:moveTo>
                <a:lnTo>
                  <a:pt x="0" y="0"/>
                </a:lnTo>
                <a:lnTo>
                  <a:pt x="0" y="6754288"/>
                </a:lnTo>
                <a:lnTo>
                  <a:pt x="20299771" y="6754288"/>
                </a:lnTo>
                <a:lnTo>
                  <a:pt x="20299771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610000">
            <a:off x="5155679" y="3480094"/>
            <a:ext cx="20299771" cy="6754287"/>
          </a:xfrm>
          <a:custGeom>
            <a:avLst/>
            <a:gdLst/>
            <a:ahLst/>
            <a:cxnLst/>
            <a:rect l="l" t="t" r="r" b="b"/>
            <a:pathLst>
              <a:path w="20299771" h="6754287">
                <a:moveTo>
                  <a:pt x="0" y="0"/>
                </a:moveTo>
                <a:lnTo>
                  <a:pt x="20299771" y="0"/>
                </a:lnTo>
                <a:lnTo>
                  <a:pt x="20299771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2396904" y="8737833"/>
            <a:ext cx="4793807" cy="4802539"/>
          </a:xfrm>
          <a:custGeom>
            <a:avLst/>
            <a:gdLst/>
            <a:ahLst/>
            <a:cxnLst/>
            <a:rect l="l" t="t" r="r" b="b"/>
            <a:pathLst>
              <a:path w="4793807" h="4802539">
                <a:moveTo>
                  <a:pt x="4793808" y="0"/>
                </a:moveTo>
                <a:lnTo>
                  <a:pt x="0" y="0"/>
                </a:lnTo>
                <a:lnTo>
                  <a:pt x="0" y="4802539"/>
                </a:lnTo>
                <a:lnTo>
                  <a:pt x="4793808" y="4802539"/>
                </a:lnTo>
                <a:lnTo>
                  <a:pt x="47938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891096" y="8737833"/>
            <a:ext cx="4793807" cy="4802539"/>
          </a:xfrm>
          <a:custGeom>
            <a:avLst/>
            <a:gdLst/>
            <a:ahLst/>
            <a:cxnLst/>
            <a:rect l="l" t="t" r="r" b="b"/>
            <a:pathLst>
              <a:path w="4793807" h="4802539">
                <a:moveTo>
                  <a:pt x="0" y="0"/>
                </a:moveTo>
                <a:lnTo>
                  <a:pt x="4793808" y="0"/>
                </a:lnTo>
                <a:lnTo>
                  <a:pt x="4793808" y="4802539"/>
                </a:lnTo>
                <a:lnTo>
                  <a:pt x="0" y="4802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7055059" y="1028700"/>
            <a:ext cx="1675621" cy="3401366"/>
          </a:xfrm>
          <a:custGeom>
            <a:avLst/>
            <a:gdLst/>
            <a:ahLst/>
            <a:cxnLst/>
            <a:rect l="l" t="t" r="r" b="b"/>
            <a:pathLst>
              <a:path w="1675621" h="3401366">
                <a:moveTo>
                  <a:pt x="1675621" y="0"/>
                </a:moveTo>
                <a:lnTo>
                  <a:pt x="0" y="0"/>
                </a:lnTo>
                <a:lnTo>
                  <a:pt x="0" y="3401366"/>
                </a:lnTo>
                <a:lnTo>
                  <a:pt x="1675621" y="3401366"/>
                </a:lnTo>
                <a:lnTo>
                  <a:pt x="1675621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646921" y="1028700"/>
            <a:ext cx="1675621" cy="3401366"/>
          </a:xfrm>
          <a:custGeom>
            <a:avLst/>
            <a:gdLst/>
            <a:ahLst/>
            <a:cxnLst/>
            <a:rect l="l" t="t" r="r" b="b"/>
            <a:pathLst>
              <a:path w="1675621" h="3401366">
                <a:moveTo>
                  <a:pt x="0" y="0"/>
                </a:moveTo>
                <a:lnTo>
                  <a:pt x="1675621" y="0"/>
                </a:lnTo>
                <a:lnTo>
                  <a:pt x="1675621" y="3401366"/>
                </a:lnTo>
                <a:lnTo>
                  <a:pt x="0" y="34013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3171394" y="2514919"/>
            <a:ext cx="11498169" cy="1539412"/>
            <a:chOff x="0" y="0"/>
            <a:chExt cx="3028324" cy="40544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28324" cy="405442"/>
            </a:xfrm>
            <a:custGeom>
              <a:avLst/>
              <a:gdLst/>
              <a:ahLst/>
              <a:cxnLst/>
              <a:rect l="l" t="t" r="r" b="b"/>
              <a:pathLst>
                <a:path w="3028324" h="405442">
                  <a:moveTo>
                    <a:pt x="19526" y="0"/>
                  </a:moveTo>
                  <a:lnTo>
                    <a:pt x="3008798" y="0"/>
                  </a:lnTo>
                  <a:cubicBezTo>
                    <a:pt x="3019582" y="0"/>
                    <a:pt x="3028324" y="8742"/>
                    <a:pt x="3028324" y="19526"/>
                  </a:cubicBezTo>
                  <a:lnTo>
                    <a:pt x="3028324" y="385916"/>
                  </a:lnTo>
                  <a:cubicBezTo>
                    <a:pt x="3028324" y="391094"/>
                    <a:pt x="3026267" y="396061"/>
                    <a:pt x="3022605" y="399723"/>
                  </a:cubicBezTo>
                  <a:cubicBezTo>
                    <a:pt x="3018943" y="403385"/>
                    <a:pt x="3013977" y="405442"/>
                    <a:pt x="3008798" y="405442"/>
                  </a:cubicBezTo>
                  <a:lnTo>
                    <a:pt x="19526" y="405442"/>
                  </a:lnTo>
                  <a:cubicBezTo>
                    <a:pt x="8742" y="405442"/>
                    <a:pt x="0" y="396700"/>
                    <a:pt x="0" y="385916"/>
                  </a:cubicBezTo>
                  <a:lnTo>
                    <a:pt x="0" y="19526"/>
                  </a:lnTo>
                  <a:cubicBezTo>
                    <a:pt x="0" y="14348"/>
                    <a:pt x="2057" y="9381"/>
                    <a:pt x="5719" y="5719"/>
                  </a:cubicBezTo>
                  <a:cubicBezTo>
                    <a:pt x="9381" y="2057"/>
                    <a:pt x="14348" y="0"/>
                    <a:pt x="19526" y="0"/>
                  </a:cubicBezTo>
                  <a:close/>
                </a:path>
              </a:pathLst>
            </a:custGeom>
            <a:solidFill>
              <a:srgbClr val="C281B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028324" cy="443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Detect five essential fields on a parcel label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758425" y="1268971"/>
            <a:ext cx="10477500" cy="653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  <a:spcBef>
                <a:spcPct val="0"/>
              </a:spcBef>
            </a:pPr>
            <a:r>
              <a:rPr lang="en-US" sz="4800" b="1" u="none" strike="noStrike">
                <a:solidFill>
                  <a:srgbClr val="4C489E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Project Objective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171394" y="4386800"/>
            <a:ext cx="11498169" cy="1324220"/>
            <a:chOff x="0" y="0"/>
            <a:chExt cx="3028324" cy="34876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028324" cy="348766"/>
            </a:xfrm>
            <a:custGeom>
              <a:avLst/>
              <a:gdLst/>
              <a:ahLst/>
              <a:cxnLst/>
              <a:rect l="l" t="t" r="r" b="b"/>
              <a:pathLst>
                <a:path w="3028324" h="348766">
                  <a:moveTo>
                    <a:pt x="19526" y="0"/>
                  </a:moveTo>
                  <a:lnTo>
                    <a:pt x="3008798" y="0"/>
                  </a:lnTo>
                  <a:cubicBezTo>
                    <a:pt x="3019582" y="0"/>
                    <a:pt x="3028324" y="8742"/>
                    <a:pt x="3028324" y="19526"/>
                  </a:cubicBezTo>
                  <a:lnTo>
                    <a:pt x="3028324" y="329239"/>
                  </a:lnTo>
                  <a:cubicBezTo>
                    <a:pt x="3028324" y="334418"/>
                    <a:pt x="3026267" y="339385"/>
                    <a:pt x="3022605" y="343047"/>
                  </a:cubicBezTo>
                  <a:cubicBezTo>
                    <a:pt x="3018943" y="346708"/>
                    <a:pt x="3013977" y="348766"/>
                    <a:pt x="3008798" y="348766"/>
                  </a:cubicBezTo>
                  <a:lnTo>
                    <a:pt x="19526" y="348766"/>
                  </a:lnTo>
                  <a:cubicBezTo>
                    <a:pt x="8742" y="348766"/>
                    <a:pt x="0" y="340024"/>
                    <a:pt x="0" y="329239"/>
                  </a:cubicBezTo>
                  <a:lnTo>
                    <a:pt x="0" y="19526"/>
                  </a:lnTo>
                  <a:cubicBezTo>
                    <a:pt x="0" y="14348"/>
                    <a:pt x="2057" y="9381"/>
                    <a:pt x="5719" y="5719"/>
                  </a:cubicBezTo>
                  <a:cubicBezTo>
                    <a:pt x="9381" y="2057"/>
                    <a:pt x="14348" y="0"/>
                    <a:pt x="19526" y="0"/>
                  </a:cubicBezTo>
                  <a:close/>
                </a:path>
              </a:pathLst>
            </a:custGeom>
            <a:solidFill>
              <a:srgbClr val="C281B8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028324" cy="3868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Identify filled and empty fields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171394" y="6047257"/>
            <a:ext cx="11498169" cy="1324220"/>
            <a:chOff x="0" y="0"/>
            <a:chExt cx="3028324" cy="34876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028324" cy="348766"/>
            </a:xfrm>
            <a:custGeom>
              <a:avLst/>
              <a:gdLst/>
              <a:ahLst/>
              <a:cxnLst/>
              <a:rect l="l" t="t" r="r" b="b"/>
              <a:pathLst>
                <a:path w="3028324" h="348766">
                  <a:moveTo>
                    <a:pt x="19526" y="0"/>
                  </a:moveTo>
                  <a:lnTo>
                    <a:pt x="3008798" y="0"/>
                  </a:lnTo>
                  <a:cubicBezTo>
                    <a:pt x="3019582" y="0"/>
                    <a:pt x="3028324" y="8742"/>
                    <a:pt x="3028324" y="19526"/>
                  </a:cubicBezTo>
                  <a:lnTo>
                    <a:pt x="3028324" y="329239"/>
                  </a:lnTo>
                  <a:cubicBezTo>
                    <a:pt x="3028324" y="334418"/>
                    <a:pt x="3026267" y="339385"/>
                    <a:pt x="3022605" y="343047"/>
                  </a:cubicBezTo>
                  <a:cubicBezTo>
                    <a:pt x="3018943" y="346708"/>
                    <a:pt x="3013977" y="348766"/>
                    <a:pt x="3008798" y="348766"/>
                  </a:cubicBezTo>
                  <a:lnTo>
                    <a:pt x="19526" y="348766"/>
                  </a:lnTo>
                  <a:cubicBezTo>
                    <a:pt x="8742" y="348766"/>
                    <a:pt x="0" y="340024"/>
                    <a:pt x="0" y="329239"/>
                  </a:cubicBezTo>
                  <a:lnTo>
                    <a:pt x="0" y="19526"/>
                  </a:lnTo>
                  <a:cubicBezTo>
                    <a:pt x="0" y="14348"/>
                    <a:pt x="2057" y="9381"/>
                    <a:pt x="5719" y="5719"/>
                  </a:cubicBezTo>
                  <a:cubicBezTo>
                    <a:pt x="9381" y="2057"/>
                    <a:pt x="14348" y="0"/>
                    <a:pt x="19526" y="0"/>
                  </a:cubicBezTo>
                  <a:close/>
                </a:path>
              </a:pathLst>
            </a:custGeom>
            <a:solidFill>
              <a:srgbClr val="C281B8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028324" cy="3868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Read and display label information on a dashboard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171394" y="7707713"/>
            <a:ext cx="11498169" cy="1324220"/>
            <a:chOff x="0" y="0"/>
            <a:chExt cx="3028324" cy="34876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028324" cy="348766"/>
            </a:xfrm>
            <a:custGeom>
              <a:avLst/>
              <a:gdLst/>
              <a:ahLst/>
              <a:cxnLst/>
              <a:rect l="l" t="t" r="r" b="b"/>
              <a:pathLst>
                <a:path w="3028324" h="348766">
                  <a:moveTo>
                    <a:pt x="19526" y="0"/>
                  </a:moveTo>
                  <a:lnTo>
                    <a:pt x="3008798" y="0"/>
                  </a:lnTo>
                  <a:cubicBezTo>
                    <a:pt x="3019582" y="0"/>
                    <a:pt x="3028324" y="8742"/>
                    <a:pt x="3028324" y="19526"/>
                  </a:cubicBezTo>
                  <a:lnTo>
                    <a:pt x="3028324" y="329239"/>
                  </a:lnTo>
                  <a:cubicBezTo>
                    <a:pt x="3028324" y="334418"/>
                    <a:pt x="3026267" y="339385"/>
                    <a:pt x="3022605" y="343047"/>
                  </a:cubicBezTo>
                  <a:cubicBezTo>
                    <a:pt x="3018943" y="346708"/>
                    <a:pt x="3013977" y="348766"/>
                    <a:pt x="3008798" y="348766"/>
                  </a:cubicBezTo>
                  <a:lnTo>
                    <a:pt x="19526" y="348766"/>
                  </a:lnTo>
                  <a:cubicBezTo>
                    <a:pt x="8742" y="348766"/>
                    <a:pt x="0" y="340024"/>
                    <a:pt x="0" y="329239"/>
                  </a:cubicBezTo>
                  <a:lnTo>
                    <a:pt x="0" y="19526"/>
                  </a:lnTo>
                  <a:cubicBezTo>
                    <a:pt x="0" y="14348"/>
                    <a:pt x="2057" y="9381"/>
                    <a:pt x="5719" y="5719"/>
                  </a:cubicBezTo>
                  <a:cubicBezTo>
                    <a:pt x="9381" y="2057"/>
                    <a:pt x="14348" y="0"/>
                    <a:pt x="19526" y="0"/>
                  </a:cubicBezTo>
                  <a:close/>
                </a:path>
              </a:pathLst>
            </a:custGeom>
            <a:solidFill>
              <a:srgbClr val="C281B8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3028324" cy="3868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Save inspection results for future reference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344591" flipH="1">
            <a:off x="-4148183" y="5002073"/>
            <a:ext cx="20299771" cy="6754287"/>
          </a:xfrm>
          <a:custGeom>
            <a:avLst/>
            <a:gdLst/>
            <a:ahLst/>
            <a:cxnLst/>
            <a:rect l="l" t="t" r="r" b="b"/>
            <a:pathLst>
              <a:path w="20299771" h="6754287">
                <a:moveTo>
                  <a:pt x="20299770" y="0"/>
                </a:moveTo>
                <a:lnTo>
                  <a:pt x="0" y="0"/>
                </a:lnTo>
                <a:lnTo>
                  <a:pt x="0" y="6754287"/>
                </a:lnTo>
                <a:lnTo>
                  <a:pt x="20299770" y="6754287"/>
                </a:lnTo>
                <a:lnTo>
                  <a:pt x="2029977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3975364">
            <a:off x="9101346" y="-6203143"/>
            <a:ext cx="8862696" cy="8878839"/>
          </a:xfrm>
          <a:custGeom>
            <a:avLst/>
            <a:gdLst/>
            <a:ahLst/>
            <a:cxnLst/>
            <a:rect l="l" t="t" r="r" b="b"/>
            <a:pathLst>
              <a:path w="8862696" h="8878839">
                <a:moveTo>
                  <a:pt x="0" y="0"/>
                </a:moveTo>
                <a:lnTo>
                  <a:pt x="8862696" y="0"/>
                </a:lnTo>
                <a:lnTo>
                  <a:pt x="8862696" y="8878839"/>
                </a:lnTo>
                <a:lnTo>
                  <a:pt x="0" y="88788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431506" y="292352"/>
            <a:ext cx="1248533" cy="2534416"/>
          </a:xfrm>
          <a:custGeom>
            <a:avLst/>
            <a:gdLst/>
            <a:ahLst/>
            <a:cxnLst/>
            <a:rect l="l" t="t" r="r" b="b"/>
            <a:pathLst>
              <a:path w="1248533" h="2534416">
                <a:moveTo>
                  <a:pt x="0" y="0"/>
                </a:moveTo>
                <a:lnTo>
                  <a:pt x="1248533" y="0"/>
                </a:lnTo>
                <a:lnTo>
                  <a:pt x="1248533" y="2534416"/>
                </a:lnTo>
                <a:lnTo>
                  <a:pt x="0" y="25344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9501573" y="8413669"/>
            <a:ext cx="1520526" cy="3086537"/>
          </a:xfrm>
          <a:custGeom>
            <a:avLst/>
            <a:gdLst/>
            <a:ahLst/>
            <a:cxnLst/>
            <a:rect l="l" t="t" r="r" b="b"/>
            <a:pathLst>
              <a:path w="1520526" h="3086537">
                <a:moveTo>
                  <a:pt x="0" y="0"/>
                </a:moveTo>
                <a:lnTo>
                  <a:pt x="1520525" y="0"/>
                </a:lnTo>
                <a:lnTo>
                  <a:pt x="1520525" y="3086537"/>
                </a:lnTo>
                <a:lnTo>
                  <a:pt x="0" y="30865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150928" y="7813705"/>
            <a:ext cx="1647551" cy="200702"/>
          </a:xfrm>
          <a:custGeom>
            <a:avLst/>
            <a:gdLst/>
            <a:ahLst/>
            <a:cxnLst/>
            <a:rect l="l" t="t" r="r" b="b"/>
            <a:pathLst>
              <a:path w="1647551" h="200702">
                <a:moveTo>
                  <a:pt x="0" y="0"/>
                </a:moveTo>
                <a:lnTo>
                  <a:pt x="1647551" y="0"/>
                </a:lnTo>
                <a:lnTo>
                  <a:pt x="1647551" y="200702"/>
                </a:lnTo>
                <a:lnTo>
                  <a:pt x="0" y="20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8700" y="8767760"/>
            <a:ext cx="4726694" cy="490540"/>
            <a:chOff x="0" y="0"/>
            <a:chExt cx="3915949" cy="406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915949" cy="406400"/>
            </a:xfrm>
            <a:custGeom>
              <a:avLst/>
              <a:gdLst/>
              <a:ahLst/>
              <a:cxnLst/>
              <a:rect l="l" t="t" r="r" b="b"/>
              <a:pathLst>
                <a:path w="3915949" h="406400">
                  <a:moveTo>
                    <a:pt x="3712749" y="0"/>
                  </a:moveTo>
                  <a:cubicBezTo>
                    <a:pt x="3824973" y="0"/>
                    <a:pt x="3915949" y="90976"/>
                    <a:pt x="3915949" y="203200"/>
                  </a:cubicBezTo>
                  <a:cubicBezTo>
                    <a:pt x="3915949" y="315424"/>
                    <a:pt x="3824973" y="406400"/>
                    <a:pt x="37127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7CFC3">
                    <a:alpha val="100000"/>
                  </a:srgbClr>
                </a:gs>
                <a:gs pos="100000">
                  <a:srgbClr val="F08EA2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3915949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49883" y="2967494"/>
            <a:ext cx="10001250" cy="57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10"/>
              </a:lnSpc>
              <a:spcBef>
                <a:spcPct val="0"/>
              </a:spcBef>
            </a:pPr>
            <a:r>
              <a:rPr lang="en-US" sz="4200" b="1" u="none" strike="noStrike">
                <a:solidFill>
                  <a:srgbClr val="20419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Use Case: Warehouse Label Inspection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7027" y="4469842"/>
            <a:ext cx="9768544" cy="2162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92"/>
              </a:lnSpc>
              <a:spcBef>
                <a:spcPct val="0"/>
              </a:spcBef>
            </a:pPr>
            <a:r>
              <a:rPr lang="en-US" sz="3518" u="none" strike="noStrike">
                <a:solidFill>
                  <a:srgbClr val="20419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Staff prepare a parcel label and place it in front of the camera. The system checks required fields before the parcel continues to dispatch. Incomplete labels are corrected immediately.</a:t>
            </a:r>
          </a:p>
        </p:txBody>
      </p:sp>
      <p:sp>
        <p:nvSpPr>
          <p:cNvPr id="12" name="Freeform 12"/>
          <p:cNvSpPr/>
          <p:nvPr/>
        </p:nvSpPr>
        <p:spPr>
          <a:xfrm>
            <a:off x="11399394" y="2838611"/>
            <a:ext cx="6186807" cy="4609778"/>
          </a:xfrm>
          <a:custGeom>
            <a:avLst/>
            <a:gdLst/>
            <a:ahLst/>
            <a:cxnLst/>
            <a:rect l="l" t="t" r="r" b="b"/>
            <a:pathLst>
              <a:path w="6186807" h="4609778">
                <a:moveTo>
                  <a:pt x="0" y="0"/>
                </a:moveTo>
                <a:lnTo>
                  <a:pt x="6186807" y="0"/>
                </a:lnTo>
                <a:lnTo>
                  <a:pt x="6186807" y="4609778"/>
                </a:lnTo>
                <a:lnTo>
                  <a:pt x="0" y="46097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6000"/>
            </a:blip>
            <a:stretch>
              <a:fillRect t="-328" b="-328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7CFC3">
                <a:alpha val="100000"/>
              </a:srgbClr>
            </a:gs>
            <a:gs pos="100000">
              <a:srgbClr val="F08EA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344591" flipH="1">
            <a:off x="-3561422" y="5173956"/>
            <a:ext cx="20299771" cy="6754287"/>
          </a:xfrm>
          <a:custGeom>
            <a:avLst/>
            <a:gdLst/>
            <a:ahLst/>
            <a:cxnLst/>
            <a:rect l="l" t="t" r="r" b="b"/>
            <a:pathLst>
              <a:path w="20299771" h="6754287">
                <a:moveTo>
                  <a:pt x="20299770" y="0"/>
                </a:moveTo>
                <a:lnTo>
                  <a:pt x="0" y="0"/>
                </a:lnTo>
                <a:lnTo>
                  <a:pt x="0" y="6754287"/>
                </a:lnTo>
                <a:lnTo>
                  <a:pt x="20299770" y="6754287"/>
                </a:lnTo>
                <a:lnTo>
                  <a:pt x="2029977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11332" y="2505337"/>
            <a:ext cx="9264892" cy="7096045"/>
            <a:chOff x="0" y="0"/>
            <a:chExt cx="2440136" cy="18689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0136" cy="1868917"/>
            </a:xfrm>
            <a:custGeom>
              <a:avLst/>
              <a:gdLst/>
              <a:ahLst/>
              <a:cxnLst/>
              <a:rect l="l" t="t" r="r" b="b"/>
              <a:pathLst>
                <a:path w="2440136" h="1868917">
                  <a:moveTo>
                    <a:pt x="24233" y="0"/>
                  </a:moveTo>
                  <a:lnTo>
                    <a:pt x="2415903" y="0"/>
                  </a:lnTo>
                  <a:cubicBezTo>
                    <a:pt x="2429287" y="0"/>
                    <a:pt x="2440136" y="10849"/>
                    <a:pt x="2440136" y="24233"/>
                  </a:cubicBezTo>
                  <a:lnTo>
                    <a:pt x="2440136" y="1844684"/>
                  </a:lnTo>
                  <a:cubicBezTo>
                    <a:pt x="2440136" y="1858068"/>
                    <a:pt x="2429287" y="1868917"/>
                    <a:pt x="2415903" y="1868917"/>
                  </a:cubicBezTo>
                  <a:lnTo>
                    <a:pt x="24233" y="1868917"/>
                  </a:lnTo>
                  <a:cubicBezTo>
                    <a:pt x="10849" y="1868917"/>
                    <a:pt x="0" y="1858068"/>
                    <a:pt x="0" y="1844684"/>
                  </a:cubicBezTo>
                  <a:lnTo>
                    <a:pt x="0" y="24233"/>
                  </a:lnTo>
                  <a:cubicBezTo>
                    <a:pt x="0" y="10849"/>
                    <a:pt x="10849" y="0"/>
                    <a:pt x="24233" y="0"/>
                  </a:cubicBezTo>
                  <a:close/>
                </a:path>
              </a:pathLst>
            </a:custGeom>
            <a:solidFill>
              <a:srgbClr val="F2F3F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440136" cy="1926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404701" y="6789856"/>
            <a:ext cx="1216033" cy="2468444"/>
          </a:xfrm>
          <a:custGeom>
            <a:avLst/>
            <a:gdLst/>
            <a:ahLst/>
            <a:cxnLst/>
            <a:rect l="l" t="t" r="r" b="b"/>
            <a:pathLst>
              <a:path w="1216033" h="2468444">
                <a:moveTo>
                  <a:pt x="0" y="0"/>
                </a:moveTo>
                <a:lnTo>
                  <a:pt x="1216033" y="0"/>
                </a:lnTo>
                <a:lnTo>
                  <a:pt x="1216033" y="2468444"/>
                </a:lnTo>
                <a:lnTo>
                  <a:pt x="0" y="24684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400000" flipH="1">
            <a:off x="16014263" y="6769491"/>
            <a:ext cx="2490075" cy="5054639"/>
          </a:xfrm>
          <a:custGeom>
            <a:avLst/>
            <a:gdLst/>
            <a:ahLst/>
            <a:cxnLst/>
            <a:rect l="l" t="t" r="r" b="b"/>
            <a:pathLst>
              <a:path w="2490075" h="5054639">
                <a:moveTo>
                  <a:pt x="2490074" y="0"/>
                </a:moveTo>
                <a:lnTo>
                  <a:pt x="0" y="0"/>
                </a:lnTo>
                <a:lnTo>
                  <a:pt x="0" y="5054639"/>
                </a:lnTo>
                <a:lnTo>
                  <a:pt x="2490074" y="5054639"/>
                </a:lnTo>
                <a:lnTo>
                  <a:pt x="249007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171694">
            <a:off x="13395275" y="-3753059"/>
            <a:ext cx="6058172" cy="6069207"/>
          </a:xfrm>
          <a:custGeom>
            <a:avLst/>
            <a:gdLst/>
            <a:ahLst/>
            <a:cxnLst/>
            <a:rect l="l" t="t" r="r" b="b"/>
            <a:pathLst>
              <a:path w="6058172" h="6069207">
                <a:moveTo>
                  <a:pt x="0" y="0"/>
                </a:moveTo>
                <a:lnTo>
                  <a:pt x="6058172" y="0"/>
                </a:lnTo>
                <a:lnTo>
                  <a:pt x="6058172" y="6069207"/>
                </a:lnTo>
                <a:lnTo>
                  <a:pt x="0" y="60692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9847" y="1514653"/>
            <a:ext cx="10477500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29"/>
              </a:lnSpc>
              <a:spcBef>
                <a:spcPct val="0"/>
              </a:spcBef>
            </a:pPr>
            <a:r>
              <a:rPr lang="en-US" sz="4599" b="1" u="none" strike="noStrike">
                <a:solidFill>
                  <a:srgbClr val="20419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System Overview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75743" y="3069976"/>
            <a:ext cx="7957102" cy="5605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20419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1. The camera captures the parcel label</a:t>
            </a:r>
          </a:p>
          <a:p>
            <a:pPr algn="just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20419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2. YOLO detects fields and classifies them as filled or empty</a:t>
            </a:r>
          </a:p>
          <a:p>
            <a:pPr algn="just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20419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3. Green or red bounding boxes appear with confidence scores</a:t>
            </a:r>
          </a:p>
          <a:p>
            <a:pPr algn="just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20419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4. OCR automatically reads the text</a:t>
            </a:r>
          </a:p>
          <a:p>
            <a:pPr algn="just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20419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5. The dashboard displays each field’s status and recognised text</a:t>
            </a:r>
          </a:p>
          <a:p>
            <a:pPr algn="just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20419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6. The user clicks *CHECK &amp; SAVE* to record the inspection</a:t>
            </a:r>
          </a:p>
        </p:txBody>
      </p:sp>
      <p:sp>
        <p:nvSpPr>
          <p:cNvPr id="11" name="Freeform 11"/>
          <p:cNvSpPr/>
          <p:nvPr/>
        </p:nvSpPr>
        <p:spPr>
          <a:xfrm>
            <a:off x="11458722" y="710406"/>
            <a:ext cx="4965639" cy="3589862"/>
          </a:xfrm>
          <a:custGeom>
            <a:avLst/>
            <a:gdLst/>
            <a:ahLst/>
            <a:cxnLst/>
            <a:rect l="l" t="t" r="r" b="b"/>
            <a:pathLst>
              <a:path w="4965639" h="3589862">
                <a:moveTo>
                  <a:pt x="0" y="0"/>
                </a:moveTo>
                <a:lnTo>
                  <a:pt x="4965639" y="0"/>
                </a:lnTo>
                <a:lnTo>
                  <a:pt x="4965639" y="3589862"/>
                </a:lnTo>
                <a:lnTo>
                  <a:pt x="0" y="35898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3586" t="-96917" r="-270766" b="-204526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742974" y="4642478"/>
            <a:ext cx="6584191" cy="4958904"/>
          </a:xfrm>
          <a:custGeom>
            <a:avLst/>
            <a:gdLst/>
            <a:ahLst/>
            <a:cxnLst/>
            <a:rect l="l" t="t" r="r" b="b"/>
            <a:pathLst>
              <a:path w="6584191" h="4958904">
                <a:moveTo>
                  <a:pt x="0" y="0"/>
                </a:moveTo>
                <a:lnTo>
                  <a:pt x="6584191" y="0"/>
                </a:lnTo>
                <a:lnTo>
                  <a:pt x="6584191" y="4958904"/>
                </a:lnTo>
                <a:lnTo>
                  <a:pt x="0" y="49589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7661" t="-34159" r="-510" b="-41716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7CFC3">
                <a:alpha val="100000"/>
              </a:srgbClr>
            </a:gs>
            <a:gs pos="100000">
              <a:srgbClr val="F08EA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0761" y="2914705"/>
            <a:ext cx="5305841" cy="2942772"/>
            <a:chOff x="0" y="0"/>
            <a:chExt cx="1397423" cy="7750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7423" cy="775051"/>
            </a:xfrm>
            <a:custGeom>
              <a:avLst/>
              <a:gdLst/>
              <a:ahLst/>
              <a:cxnLst/>
              <a:rect l="l" t="t" r="r" b="b"/>
              <a:pathLst>
                <a:path w="1397423" h="775051">
                  <a:moveTo>
                    <a:pt x="42315" y="0"/>
                  </a:moveTo>
                  <a:lnTo>
                    <a:pt x="1355108" y="0"/>
                  </a:lnTo>
                  <a:cubicBezTo>
                    <a:pt x="1366331" y="0"/>
                    <a:pt x="1377094" y="4458"/>
                    <a:pt x="1385030" y="12394"/>
                  </a:cubicBezTo>
                  <a:cubicBezTo>
                    <a:pt x="1392965" y="20329"/>
                    <a:pt x="1397423" y="31092"/>
                    <a:pt x="1397423" y="42315"/>
                  </a:cubicBezTo>
                  <a:lnTo>
                    <a:pt x="1397423" y="732736"/>
                  </a:lnTo>
                  <a:cubicBezTo>
                    <a:pt x="1397423" y="756106"/>
                    <a:pt x="1378478" y="775051"/>
                    <a:pt x="1355108" y="775051"/>
                  </a:cubicBezTo>
                  <a:lnTo>
                    <a:pt x="42315" y="775051"/>
                  </a:lnTo>
                  <a:cubicBezTo>
                    <a:pt x="18945" y="775051"/>
                    <a:pt x="0" y="756106"/>
                    <a:pt x="0" y="732736"/>
                  </a:cubicBezTo>
                  <a:lnTo>
                    <a:pt x="0" y="42315"/>
                  </a:lnTo>
                  <a:cubicBezTo>
                    <a:pt x="0" y="18945"/>
                    <a:pt x="18945" y="0"/>
                    <a:pt x="42315" y="0"/>
                  </a:cubicBezTo>
                  <a:close/>
                </a:path>
              </a:pathLst>
            </a:custGeom>
            <a:solidFill>
              <a:srgbClr val="F2F3F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397423" cy="8417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20419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Python: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20419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Programming language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9144000" y="-6234379"/>
            <a:ext cx="8862696" cy="8878839"/>
          </a:xfrm>
          <a:custGeom>
            <a:avLst/>
            <a:gdLst/>
            <a:ahLst/>
            <a:cxnLst/>
            <a:rect l="l" t="t" r="r" b="b"/>
            <a:pathLst>
              <a:path w="8862696" h="8878839">
                <a:moveTo>
                  <a:pt x="0" y="0"/>
                </a:moveTo>
                <a:lnTo>
                  <a:pt x="8862696" y="0"/>
                </a:lnTo>
                <a:lnTo>
                  <a:pt x="8862696" y="8878839"/>
                </a:lnTo>
                <a:lnTo>
                  <a:pt x="0" y="88788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981365">
            <a:off x="3811636" y="3648079"/>
            <a:ext cx="20299771" cy="6754287"/>
          </a:xfrm>
          <a:custGeom>
            <a:avLst/>
            <a:gdLst/>
            <a:ahLst/>
            <a:cxnLst/>
            <a:rect l="l" t="t" r="r" b="b"/>
            <a:pathLst>
              <a:path w="20299771" h="6754287">
                <a:moveTo>
                  <a:pt x="0" y="0"/>
                </a:moveTo>
                <a:lnTo>
                  <a:pt x="20299771" y="0"/>
                </a:lnTo>
                <a:lnTo>
                  <a:pt x="20299771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7187372" y="6347008"/>
            <a:ext cx="1519526" cy="3084508"/>
          </a:xfrm>
          <a:custGeom>
            <a:avLst/>
            <a:gdLst/>
            <a:ahLst/>
            <a:cxnLst/>
            <a:rect l="l" t="t" r="r" b="b"/>
            <a:pathLst>
              <a:path w="1519526" h="3084508">
                <a:moveTo>
                  <a:pt x="1519526" y="3084508"/>
                </a:moveTo>
                <a:lnTo>
                  <a:pt x="0" y="3084508"/>
                </a:lnTo>
                <a:lnTo>
                  <a:pt x="0" y="0"/>
                </a:lnTo>
                <a:lnTo>
                  <a:pt x="1519526" y="0"/>
                </a:lnTo>
                <a:lnTo>
                  <a:pt x="1519526" y="3084508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5400000" flipH="1">
            <a:off x="7345876" y="8820306"/>
            <a:ext cx="1186914" cy="2409334"/>
          </a:xfrm>
          <a:custGeom>
            <a:avLst/>
            <a:gdLst/>
            <a:ahLst/>
            <a:cxnLst/>
            <a:rect l="l" t="t" r="r" b="b"/>
            <a:pathLst>
              <a:path w="1186914" h="2409334">
                <a:moveTo>
                  <a:pt x="1186914" y="0"/>
                </a:moveTo>
                <a:lnTo>
                  <a:pt x="0" y="0"/>
                </a:lnTo>
                <a:lnTo>
                  <a:pt x="0" y="2409334"/>
                </a:lnTo>
                <a:lnTo>
                  <a:pt x="1186914" y="2409334"/>
                </a:lnTo>
                <a:lnTo>
                  <a:pt x="118691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2532606" y="8767760"/>
            <a:ext cx="4726694" cy="490540"/>
            <a:chOff x="0" y="0"/>
            <a:chExt cx="3915949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15949" cy="406400"/>
            </a:xfrm>
            <a:custGeom>
              <a:avLst/>
              <a:gdLst/>
              <a:ahLst/>
              <a:cxnLst/>
              <a:rect l="l" t="t" r="r" b="b"/>
              <a:pathLst>
                <a:path w="3915949" h="406400">
                  <a:moveTo>
                    <a:pt x="3712749" y="0"/>
                  </a:moveTo>
                  <a:cubicBezTo>
                    <a:pt x="3824973" y="0"/>
                    <a:pt x="3915949" y="90976"/>
                    <a:pt x="3915949" y="203200"/>
                  </a:cubicBezTo>
                  <a:cubicBezTo>
                    <a:pt x="3915949" y="315424"/>
                    <a:pt x="3824973" y="406400"/>
                    <a:pt x="37127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7CFC3">
                    <a:alpha val="100000"/>
                  </a:srgbClr>
                </a:gs>
                <a:gs pos="100000">
                  <a:srgbClr val="F08EA2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3915949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00761" y="1739190"/>
            <a:ext cx="10001250" cy="653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040"/>
              </a:lnSpc>
              <a:spcBef>
                <a:spcPct val="0"/>
              </a:spcBef>
            </a:pPr>
            <a:r>
              <a:rPr lang="en-US" sz="4800" b="1">
                <a:solidFill>
                  <a:srgbClr val="20419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Technology Used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427110" y="2923466"/>
            <a:ext cx="5305841" cy="2942772"/>
            <a:chOff x="0" y="0"/>
            <a:chExt cx="1397423" cy="77505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97423" cy="775051"/>
            </a:xfrm>
            <a:custGeom>
              <a:avLst/>
              <a:gdLst/>
              <a:ahLst/>
              <a:cxnLst/>
              <a:rect l="l" t="t" r="r" b="b"/>
              <a:pathLst>
                <a:path w="1397423" h="775051">
                  <a:moveTo>
                    <a:pt x="42315" y="0"/>
                  </a:moveTo>
                  <a:lnTo>
                    <a:pt x="1355108" y="0"/>
                  </a:lnTo>
                  <a:cubicBezTo>
                    <a:pt x="1366331" y="0"/>
                    <a:pt x="1377094" y="4458"/>
                    <a:pt x="1385030" y="12394"/>
                  </a:cubicBezTo>
                  <a:cubicBezTo>
                    <a:pt x="1392965" y="20329"/>
                    <a:pt x="1397423" y="31092"/>
                    <a:pt x="1397423" y="42315"/>
                  </a:cubicBezTo>
                  <a:lnTo>
                    <a:pt x="1397423" y="732736"/>
                  </a:lnTo>
                  <a:cubicBezTo>
                    <a:pt x="1397423" y="756106"/>
                    <a:pt x="1378478" y="775051"/>
                    <a:pt x="1355108" y="775051"/>
                  </a:cubicBezTo>
                  <a:lnTo>
                    <a:pt x="42315" y="775051"/>
                  </a:lnTo>
                  <a:cubicBezTo>
                    <a:pt x="18945" y="775051"/>
                    <a:pt x="0" y="756106"/>
                    <a:pt x="0" y="732736"/>
                  </a:cubicBezTo>
                  <a:lnTo>
                    <a:pt x="0" y="42315"/>
                  </a:lnTo>
                  <a:cubicBezTo>
                    <a:pt x="0" y="18945"/>
                    <a:pt x="18945" y="0"/>
                    <a:pt x="42315" y="0"/>
                  </a:cubicBezTo>
                  <a:close/>
                </a:path>
              </a:pathLst>
            </a:custGeom>
            <a:solidFill>
              <a:srgbClr val="F2F3F4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1397423" cy="8417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20419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OpenCV: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20419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Image processing and label alignment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953459" y="2932227"/>
            <a:ext cx="5305841" cy="2942772"/>
            <a:chOff x="0" y="0"/>
            <a:chExt cx="1397423" cy="77505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97423" cy="775051"/>
            </a:xfrm>
            <a:custGeom>
              <a:avLst/>
              <a:gdLst/>
              <a:ahLst/>
              <a:cxnLst/>
              <a:rect l="l" t="t" r="r" b="b"/>
              <a:pathLst>
                <a:path w="1397423" h="775051">
                  <a:moveTo>
                    <a:pt x="42315" y="0"/>
                  </a:moveTo>
                  <a:lnTo>
                    <a:pt x="1355108" y="0"/>
                  </a:lnTo>
                  <a:cubicBezTo>
                    <a:pt x="1366331" y="0"/>
                    <a:pt x="1377094" y="4458"/>
                    <a:pt x="1385030" y="12394"/>
                  </a:cubicBezTo>
                  <a:cubicBezTo>
                    <a:pt x="1392965" y="20329"/>
                    <a:pt x="1397423" y="31092"/>
                    <a:pt x="1397423" y="42315"/>
                  </a:cubicBezTo>
                  <a:lnTo>
                    <a:pt x="1397423" y="732736"/>
                  </a:lnTo>
                  <a:cubicBezTo>
                    <a:pt x="1397423" y="756106"/>
                    <a:pt x="1378478" y="775051"/>
                    <a:pt x="1355108" y="775051"/>
                  </a:cubicBezTo>
                  <a:lnTo>
                    <a:pt x="42315" y="775051"/>
                  </a:lnTo>
                  <a:cubicBezTo>
                    <a:pt x="18945" y="775051"/>
                    <a:pt x="0" y="756106"/>
                    <a:pt x="0" y="732736"/>
                  </a:cubicBezTo>
                  <a:lnTo>
                    <a:pt x="0" y="42315"/>
                  </a:lnTo>
                  <a:cubicBezTo>
                    <a:pt x="0" y="18945"/>
                    <a:pt x="18945" y="0"/>
                    <a:pt x="42315" y="0"/>
                  </a:cubicBezTo>
                  <a:close/>
                </a:path>
              </a:pathLst>
            </a:custGeom>
            <a:solidFill>
              <a:srgbClr val="F2F3F4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1397423" cy="8417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20419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YOLO11n: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20419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Detects filled and empty fields with confidence scores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248465" y="6177491"/>
            <a:ext cx="5305841" cy="2942772"/>
            <a:chOff x="0" y="0"/>
            <a:chExt cx="1397423" cy="77505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97423" cy="775051"/>
            </a:xfrm>
            <a:custGeom>
              <a:avLst/>
              <a:gdLst/>
              <a:ahLst/>
              <a:cxnLst/>
              <a:rect l="l" t="t" r="r" b="b"/>
              <a:pathLst>
                <a:path w="1397423" h="775051">
                  <a:moveTo>
                    <a:pt x="42315" y="0"/>
                  </a:moveTo>
                  <a:lnTo>
                    <a:pt x="1355108" y="0"/>
                  </a:lnTo>
                  <a:cubicBezTo>
                    <a:pt x="1366331" y="0"/>
                    <a:pt x="1377094" y="4458"/>
                    <a:pt x="1385030" y="12394"/>
                  </a:cubicBezTo>
                  <a:cubicBezTo>
                    <a:pt x="1392965" y="20329"/>
                    <a:pt x="1397423" y="31092"/>
                    <a:pt x="1397423" y="42315"/>
                  </a:cubicBezTo>
                  <a:lnTo>
                    <a:pt x="1397423" y="732736"/>
                  </a:lnTo>
                  <a:cubicBezTo>
                    <a:pt x="1397423" y="756106"/>
                    <a:pt x="1378478" y="775051"/>
                    <a:pt x="1355108" y="775051"/>
                  </a:cubicBezTo>
                  <a:lnTo>
                    <a:pt x="42315" y="775051"/>
                  </a:lnTo>
                  <a:cubicBezTo>
                    <a:pt x="18945" y="775051"/>
                    <a:pt x="0" y="756106"/>
                    <a:pt x="0" y="732736"/>
                  </a:cubicBezTo>
                  <a:lnTo>
                    <a:pt x="0" y="42315"/>
                  </a:lnTo>
                  <a:cubicBezTo>
                    <a:pt x="0" y="18945"/>
                    <a:pt x="18945" y="0"/>
                    <a:pt x="42315" y="0"/>
                  </a:cubicBezTo>
                  <a:close/>
                </a:path>
              </a:pathLst>
            </a:custGeom>
            <a:solidFill>
              <a:srgbClr val="F2F3F4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1397423" cy="8417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20419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RapidOCR: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20419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Reads text using a pretrained model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080030" y="6181872"/>
            <a:ext cx="5305841" cy="2942772"/>
            <a:chOff x="0" y="0"/>
            <a:chExt cx="1397423" cy="77505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97423" cy="775051"/>
            </a:xfrm>
            <a:custGeom>
              <a:avLst/>
              <a:gdLst/>
              <a:ahLst/>
              <a:cxnLst/>
              <a:rect l="l" t="t" r="r" b="b"/>
              <a:pathLst>
                <a:path w="1397423" h="775051">
                  <a:moveTo>
                    <a:pt x="42315" y="0"/>
                  </a:moveTo>
                  <a:lnTo>
                    <a:pt x="1355108" y="0"/>
                  </a:lnTo>
                  <a:cubicBezTo>
                    <a:pt x="1366331" y="0"/>
                    <a:pt x="1377094" y="4458"/>
                    <a:pt x="1385030" y="12394"/>
                  </a:cubicBezTo>
                  <a:cubicBezTo>
                    <a:pt x="1392965" y="20329"/>
                    <a:pt x="1397423" y="31092"/>
                    <a:pt x="1397423" y="42315"/>
                  </a:cubicBezTo>
                  <a:lnTo>
                    <a:pt x="1397423" y="732736"/>
                  </a:lnTo>
                  <a:cubicBezTo>
                    <a:pt x="1397423" y="756106"/>
                    <a:pt x="1378478" y="775051"/>
                    <a:pt x="1355108" y="775051"/>
                  </a:cubicBezTo>
                  <a:lnTo>
                    <a:pt x="42315" y="775051"/>
                  </a:lnTo>
                  <a:cubicBezTo>
                    <a:pt x="18945" y="775051"/>
                    <a:pt x="0" y="756106"/>
                    <a:pt x="0" y="732736"/>
                  </a:cubicBezTo>
                  <a:lnTo>
                    <a:pt x="0" y="42315"/>
                  </a:lnTo>
                  <a:cubicBezTo>
                    <a:pt x="0" y="18945"/>
                    <a:pt x="18945" y="0"/>
                    <a:pt x="42315" y="0"/>
                  </a:cubicBezTo>
                  <a:close/>
                </a:path>
              </a:pathLst>
            </a:custGeom>
            <a:solidFill>
              <a:srgbClr val="F2F3F4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66675"/>
              <a:ext cx="1397423" cy="8417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20419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Camera: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20419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Qualcomm RB3 or a built-in webcam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7CFC3">
                <a:alpha val="100000"/>
              </a:srgbClr>
            </a:gs>
            <a:gs pos="100000">
              <a:srgbClr val="F08EA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864831" flipH="1">
            <a:off x="-4568671" y="3075263"/>
            <a:ext cx="21822962" cy="7261095"/>
          </a:xfrm>
          <a:custGeom>
            <a:avLst/>
            <a:gdLst/>
            <a:ahLst/>
            <a:cxnLst/>
            <a:rect l="l" t="t" r="r" b="b"/>
            <a:pathLst>
              <a:path w="21822962" h="7261095">
                <a:moveTo>
                  <a:pt x="21822962" y="0"/>
                </a:moveTo>
                <a:lnTo>
                  <a:pt x="0" y="0"/>
                </a:lnTo>
                <a:lnTo>
                  <a:pt x="0" y="7261095"/>
                </a:lnTo>
                <a:lnTo>
                  <a:pt x="21822962" y="7261095"/>
                </a:lnTo>
                <a:lnTo>
                  <a:pt x="21822962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98095" y="2534719"/>
            <a:ext cx="14781928" cy="5328365"/>
            <a:chOff x="0" y="0"/>
            <a:chExt cx="3893183" cy="140335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93183" cy="1403355"/>
            </a:xfrm>
            <a:custGeom>
              <a:avLst/>
              <a:gdLst/>
              <a:ahLst/>
              <a:cxnLst/>
              <a:rect l="l" t="t" r="r" b="b"/>
              <a:pathLst>
                <a:path w="3893183" h="1403355">
                  <a:moveTo>
                    <a:pt x="15189" y="0"/>
                  </a:moveTo>
                  <a:lnTo>
                    <a:pt x="3877994" y="0"/>
                  </a:lnTo>
                  <a:cubicBezTo>
                    <a:pt x="3882023" y="0"/>
                    <a:pt x="3885886" y="1600"/>
                    <a:pt x="3888734" y="4449"/>
                  </a:cubicBezTo>
                  <a:cubicBezTo>
                    <a:pt x="3891583" y="7297"/>
                    <a:pt x="3893183" y="11160"/>
                    <a:pt x="3893183" y="15189"/>
                  </a:cubicBezTo>
                  <a:lnTo>
                    <a:pt x="3893183" y="1388167"/>
                  </a:lnTo>
                  <a:cubicBezTo>
                    <a:pt x="3893183" y="1396555"/>
                    <a:pt x="3886383" y="1403355"/>
                    <a:pt x="3877994" y="1403355"/>
                  </a:cubicBezTo>
                  <a:lnTo>
                    <a:pt x="15189" y="1403355"/>
                  </a:lnTo>
                  <a:cubicBezTo>
                    <a:pt x="6800" y="1403355"/>
                    <a:pt x="0" y="1396555"/>
                    <a:pt x="0" y="1388167"/>
                  </a:cubicBezTo>
                  <a:lnTo>
                    <a:pt x="0" y="15189"/>
                  </a:lnTo>
                  <a:cubicBezTo>
                    <a:pt x="0" y="6800"/>
                    <a:pt x="6800" y="0"/>
                    <a:pt x="15189" y="0"/>
                  </a:cubicBezTo>
                  <a:close/>
                </a:path>
              </a:pathLst>
            </a:custGeom>
            <a:solidFill>
              <a:srgbClr val="F2F3F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893183" cy="1460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7055059" y="1028700"/>
            <a:ext cx="1675621" cy="3401366"/>
          </a:xfrm>
          <a:custGeom>
            <a:avLst/>
            <a:gdLst/>
            <a:ahLst/>
            <a:cxnLst/>
            <a:rect l="l" t="t" r="r" b="b"/>
            <a:pathLst>
              <a:path w="1675621" h="3401366">
                <a:moveTo>
                  <a:pt x="1675621" y="0"/>
                </a:moveTo>
                <a:lnTo>
                  <a:pt x="0" y="0"/>
                </a:lnTo>
                <a:lnTo>
                  <a:pt x="0" y="3401366"/>
                </a:lnTo>
                <a:lnTo>
                  <a:pt x="1675621" y="3401366"/>
                </a:lnTo>
                <a:lnTo>
                  <a:pt x="1675621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646921" y="1028700"/>
            <a:ext cx="1675621" cy="3401366"/>
          </a:xfrm>
          <a:custGeom>
            <a:avLst/>
            <a:gdLst/>
            <a:ahLst/>
            <a:cxnLst/>
            <a:rect l="l" t="t" r="r" b="b"/>
            <a:pathLst>
              <a:path w="1675621" h="3401366">
                <a:moveTo>
                  <a:pt x="0" y="0"/>
                </a:moveTo>
                <a:lnTo>
                  <a:pt x="1675621" y="0"/>
                </a:lnTo>
                <a:lnTo>
                  <a:pt x="1675621" y="3401366"/>
                </a:lnTo>
                <a:lnTo>
                  <a:pt x="0" y="34013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754171" y="1192771"/>
            <a:ext cx="1647551" cy="200702"/>
          </a:xfrm>
          <a:custGeom>
            <a:avLst/>
            <a:gdLst/>
            <a:ahLst/>
            <a:cxnLst/>
            <a:rect l="l" t="t" r="r" b="b"/>
            <a:pathLst>
              <a:path w="1647551" h="200702">
                <a:moveTo>
                  <a:pt x="0" y="0"/>
                </a:moveTo>
                <a:lnTo>
                  <a:pt x="1647550" y="0"/>
                </a:lnTo>
                <a:lnTo>
                  <a:pt x="1647550" y="200702"/>
                </a:lnTo>
                <a:lnTo>
                  <a:pt x="0" y="20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12972163" y="-4028288"/>
            <a:ext cx="5211566" cy="5221059"/>
          </a:xfrm>
          <a:custGeom>
            <a:avLst/>
            <a:gdLst/>
            <a:ahLst/>
            <a:cxnLst/>
            <a:rect l="l" t="t" r="r" b="b"/>
            <a:pathLst>
              <a:path w="5211566" h="5221059">
                <a:moveTo>
                  <a:pt x="0" y="0"/>
                </a:moveTo>
                <a:lnTo>
                  <a:pt x="5211566" y="0"/>
                </a:lnTo>
                <a:lnTo>
                  <a:pt x="5211566" y="5221059"/>
                </a:lnTo>
                <a:lnTo>
                  <a:pt x="0" y="5221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-1073490" y="9486900"/>
            <a:ext cx="5211566" cy="5221059"/>
          </a:xfrm>
          <a:custGeom>
            <a:avLst/>
            <a:gdLst/>
            <a:ahLst/>
            <a:cxnLst/>
            <a:rect l="l" t="t" r="r" b="b"/>
            <a:pathLst>
              <a:path w="5211566" h="5221059">
                <a:moveTo>
                  <a:pt x="0" y="0"/>
                </a:moveTo>
                <a:lnTo>
                  <a:pt x="5211566" y="0"/>
                </a:lnTo>
                <a:lnTo>
                  <a:pt x="5211566" y="5221059"/>
                </a:lnTo>
                <a:lnTo>
                  <a:pt x="0" y="5221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833377" y="1604014"/>
            <a:ext cx="10477500" cy="57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10"/>
              </a:lnSpc>
              <a:spcBef>
                <a:spcPct val="0"/>
              </a:spcBef>
            </a:pPr>
            <a:r>
              <a:rPr lang="en-US" sz="4200" b="1">
                <a:solidFill>
                  <a:srgbClr val="20419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Target Market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33377" y="2838963"/>
            <a:ext cx="13504142" cy="4462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just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4C489E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Primary target: Warehouses and logistics companies.</a:t>
            </a:r>
          </a:p>
          <a:p>
            <a:pPr marL="690881" lvl="1" indent="-345440" algn="just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4C489E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Secondary target: E-commerce sellers, courier-service branches, and packaging companies.</a:t>
            </a:r>
          </a:p>
          <a:p>
            <a:pPr marL="690881" lvl="1" indent="-345440" algn="just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4C489E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Users: Packaging staff, quality-control inspectors, warehouse supervisors, and dispatch teams.</a:t>
            </a:r>
          </a:p>
          <a:p>
            <a:pPr marL="690881" lvl="1" indent="-345440" algn="just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4C489E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These organisations handle many parcels daily and need a simple way to check label completeness before dispatch.</a:t>
            </a:r>
          </a:p>
          <a:p>
            <a:pPr algn="just">
              <a:lnSpc>
                <a:spcPts val="4480"/>
              </a:lnSpc>
              <a:spcBef>
                <a:spcPct val="0"/>
              </a:spcBef>
            </a:pPr>
            <a:endParaRPr lang="en-US" sz="3200">
              <a:solidFill>
                <a:srgbClr val="4C489E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7CFC3">
                <a:alpha val="100000"/>
              </a:srgbClr>
            </a:gs>
            <a:gs pos="100000">
              <a:srgbClr val="F08EA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864831" flipH="1">
            <a:off x="-4568671" y="3075263"/>
            <a:ext cx="21822962" cy="7261095"/>
          </a:xfrm>
          <a:custGeom>
            <a:avLst/>
            <a:gdLst/>
            <a:ahLst/>
            <a:cxnLst/>
            <a:rect l="l" t="t" r="r" b="b"/>
            <a:pathLst>
              <a:path w="21822962" h="7261095">
                <a:moveTo>
                  <a:pt x="21822962" y="0"/>
                </a:moveTo>
                <a:lnTo>
                  <a:pt x="0" y="0"/>
                </a:lnTo>
                <a:lnTo>
                  <a:pt x="0" y="7261095"/>
                </a:lnTo>
                <a:lnTo>
                  <a:pt x="21822962" y="7261095"/>
                </a:lnTo>
                <a:lnTo>
                  <a:pt x="21822962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98095" y="2534719"/>
            <a:ext cx="14781928" cy="5328365"/>
            <a:chOff x="0" y="0"/>
            <a:chExt cx="3893183" cy="140335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93183" cy="1403355"/>
            </a:xfrm>
            <a:custGeom>
              <a:avLst/>
              <a:gdLst/>
              <a:ahLst/>
              <a:cxnLst/>
              <a:rect l="l" t="t" r="r" b="b"/>
              <a:pathLst>
                <a:path w="3893183" h="1403355">
                  <a:moveTo>
                    <a:pt x="15189" y="0"/>
                  </a:moveTo>
                  <a:lnTo>
                    <a:pt x="3877994" y="0"/>
                  </a:lnTo>
                  <a:cubicBezTo>
                    <a:pt x="3882023" y="0"/>
                    <a:pt x="3885886" y="1600"/>
                    <a:pt x="3888734" y="4449"/>
                  </a:cubicBezTo>
                  <a:cubicBezTo>
                    <a:pt x="3891583" y="7297"/>
                    <a:pt x="3893183" y="11160"/>
                    <a:pt x="3893183" y="15189"/>
                  </a:cubicBezTo>
                  <a:lnTo>
                    <a:pt x="3893183" y="1388167"/>
                  </a:lnTo>
                  <a:cubicBezTo>
                    <a:pt x="3893183" y="1396555"/>
                    <a:pt x="3886383" y="1403355"/>
                    <a:pt x="3877994" y="1403355"/>
                  </a:cubicBezTo>
                  <a:lnTo>
                    <a:pt x="15189" y="1403355"/>
                  </a:lnTo>
                  <a:cubicBezTo>
                    <a:pt x="6800" y="1403355"/>
                    <a:pt x="0" y="1396555"/>
                    <a:pt x="0" y="1388167"/>
                  </a:cubicBezTo>
                  <a:lnTo>
                    <a:pt x="0" y="15189"/>
                  </a:lnTo>
                  <a:cubicBezTo>
                    <a:pt x="0" y="6800"/>
                    <a:pt x="6800" y="0"/>
                    <a:pt x="15189" y="0"/>
                  </a:cubicBezTo>
                  <a:close/>
                </a:path>
              </a:pathLst>
            </a:custGeom>
            <a:solidFill>
              <a:srgbClr val="F2F3F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893183" cy="1460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7055059" y="1028700"/>
            <a:ext cx="1675621" cy="3401366"/>
          </a:xfrm>
          <a:custGeom>
            <a:avLst/>
            <a:gdLst/>
            <a:ahLst/>
            <a:cxnLst/>
            <a:rect l="l" t="t" r="r" b="b"/>
            <a:pathLst>
              <a:path w="1675621" h="3401366">
                <a:moveTo>
                  <a:pt x="1675621" y="0"/>
                </a:moveTo>
                <a:lnTo>
                  <a:pt x="0" y="0"/>
                </a:lnTo>
                <a:lnTo>
                  <a:pt x="0" y="3401366"/>
                </a:lnTo>
                <a:lnTo>
                  <a:pt x="1675621" y="3401366"/>
                </a:lnTo>
                <a:lnTo>
                  <a:pt x="1675621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646921" y="1028700"/>
            <a:ext cx="1675621" cy="3401366"/>
          </a:xfrm>
          <a:custGeom>
            <a:avLst/>
            <a:gdLst/>
            <a:ahLst/>
            <a:cxnLst/>
            <a:rect l="l" t="t" r="r" b="b"/>
            <a:pathLst>
              <a:path w="1675621" h="3401366">
                <a:moveTo>
                  <a:pt x="0" y="0"/>
                </a:moveTo>
                <a:lnTo>
                  <a:pt x="1675621" y="0"/>
                </a:lnTo>
                <a:lnTo>
                  <a:pt x="1675621" y="3401366"/>
                </a:lnTo>
                <a:lnTo>
                  <a:pt x="0" y="34013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754171" y="1192771"/>
            <a:ext cx="1647551" cy="200702"/>
          </a:xfrm>
          <a:custGeom>
            <a:avLst/>
            <a:gdLst/>
            <a:ahLst/>
            <a:cxnLst/>
            <a:rect l="l" t="t" r="r" b="b"/>
            <a:pathLst>
              <a:path w="1647551" h="200702">
                <a:moveTo>
                  <a:pt x="0" y="0"/>
                </a:moveTo>
                <a:lnTo>
                  <a:pt x="1647550" y="0"/>
                </a:lnTo>
                <a:lnTo>
                  <a:pt x="1647550" y="200702"/>
                </a:lnTo>
                <a:lnTo>
                  <a:pt x="0" y="20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12972163" y="-4028288"/>
            <a:ext cx="5211566" cy="5221059"/>
          </a:xfrm>
          <a:custGeom>
            <a:avLst/>
            <a:gdLst/>
            <a:ahLst/>
            <a:cxnLst/>
            <a:rect l="l" t="t" r="r" b="b"/>
            <a:pathLst>
              <a:path w="5211566" h="5221059">
                <a:moveTo>
                  <a:pt x="0" y="0"/>
                </a:moveTo>
                <a:lnTo>
                  <a:pt x="5211566" y="0"/>
                </a:lnTo>
                <a:lnTo>
                  <a:pt x="5211566" y="5221059"/>
                </a:lnTo>
                <a:lnTo>
                  <a:pt x="0" y="5221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-1073490" y="9486900"/>
            <a:ext cx="5211566" cy="5221059"/>
          </a:xfrm>
          <a:custGeom>
            <a:avLst/>
            <a:gdLst/>
            <a:ahLst/>
            <a:cxnLst/>
            <a:rect l="l" t="t" r="r" b="b"/>
            <a:pathLst>
              <a:path w="5211566" h="5221059">
                <a:moveTo>
                  <a:pt x="0" y="0"/>
                </a:moveTo>
                <a:lnTo>
                  <a:pt x="5211566" y="0"/>
                </a:lnTo>
                <a:lnTo>
                  <a:pt x="5211566" y="5221059"/>
                </a:lnTo>
                <a:lnTo>
                  <a:pt x="0" y="5221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833377" y="1604014"/>
            <a:ext cx="10477500" cy="57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10"/>
              </a:lnSpc>
              <a:spcBef>
                <a:spcPct val="0"/>
              </a:spcBef>
            </a:pPr>
            <a:r>
              <a:rPr lang="en-US" sz="4200" b="1">
                <a:solidFill>
                  <a:srgbClr val="20419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Value Proposition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33377" y="3263654"/>
            <a:ext cx="13504142" cy="3900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just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4C489E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Reduces the hassle of manually checking every parcel label.</a:t>
            </a:r>
          </a:p>
          <a:p>
            <a:pPr marL="690881" lvl="1" indent="-345440" algn="just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4C489E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Identifies incomplete labels before parcels leave the warehouse.</a:t>
            </a:r>
          </a:p>
          <a:p>
            <a:pPr marL="690881" lvl="1" indent="-345440" algn="just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4C489E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Reduces delivery delays, rejected parcels, and rework.</a:t>
            </a:r>
          </a:p>
          <a:p>
            <a:pPr marL="690881" lvl="1" indent="-345440" algn="just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4C489E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Provides visual proof and inspection records for quality control.</a:t>
            </a:r>
          </a:p>
          <a:p>
            <a:pPr marL="690881" lvl="1" indent="-345440" algn="just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4C489E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Can run at the edge using a camera device, reducing dependence on cloud processing.</a:t>
            </a:r>
          </a:p>
          <a:p>
            <a:pPr algn="just">
              <a:lnSpc>
                <a:spcPts val="4480"/>
              </a:lnSpc>
              <a:spcBef>
                <a:spcPct val="0"/>
              </a:spcBef>
            </a:pPr>
            <a:endParaRPr lang="en-US" sz="3200">
              <a:solidFill>
                <a:srgbClr val="4C489E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9279059" y="8121712"/>
            <a:ext cx="1730858" cy="3513494"/>
          </a:xfrm>
          <a:custGeom>
            <a:avLst/>
            <a:gdLst/>
            <a:ahLst/>
            <a:cxnLst/>
            <a:rect l="l" t="t" r="r" b="b"/>
            <a:pathLst>
              <a:path w="1730858" h="3513494">
                <a:moveTo>
                  <a:pt x="1730858" y="0"/>
                </a:moveTo>
                <a:lnTo>
                  <a:pt x="0" y="0"/>
                </a:lnTo>
                <a:lnTo>
                  <a:pt x="0" y="3513494"/>
                </a:lnTo>
                <a:lnTo>
                  <a:pt x="1730858" y="3513494"/>
                </a:lnTo>
                <a:lnTo>
                  <a:pt x="1730858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V="1">
            <a:off x="-279147" y="-1633942"/>
            <a:ext cx="2490075" cy="5054639"/>
          </a:xfrm>
          <a:custGeom>
            <a:avLst/>
            <a:gdLst/>
            <a:ahLst/>
            <a:cxnLst/>
            <a:rect l="l" t="t" r="r" b="b"/>
            <a:pathLst>
              <a:path w="2490075" h="5054639">
                <a:moveTo>
                  <a:pt x="0" y="5054639"/>
                </a:moveTo>
                <a:lnTo>
                  <a:pt x="2490075" y="5054639"/>
                </a:lnTo>
                <a:lnTo>
                  <a:pt x="2490075" y="0"/>
                </a:lnTo>
                <a:lnTo>
                  <a:pt x="0" y="0"/>
                </a:lnTo>
                <a:lnTo>
                  <a:pt x="0" y="5054639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65891" y="2565393"/>
            <a:ext cx="7312739" cy="541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r>
              <a:rPr lang="en-US" sz="4200" b="1">
                <a:solidFill>
                  <a:srgbClr val="A94BC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Revenue Model</a:t>
            </a:r>
          </a:p>
        </p:txBody>
      </p:sp>
      <p:sp>
        <p:nvSpPr>
          <p:cNvPr id="5" name="Freeform 5"/>
          <p:cNvSpPr/>
          <p:nvPr/>
        </p:nvSpPr>
        <p:spPr>
          <a:xfrm rot="-10800000">
            <a:off x="6168303" y="-2760652"/>
            <a:ext cx="4438877" cy="4446962"/>
          </a:xfrm>
          <a:custGeom>
            <a:avLst/>
            <a:gdLst/>
            <a:ahLst/>
            <a:cxnLst/>
            <a:rect l="l" t="t" r="r" b="b"/>
            <a:pathLst>
              <a:path w="4438877" h="4446962">
                <a:moveTo>
                  <a:pt x="0" y="0"/>
                </a:moveTo>
                <a:lnTo>
                  <a:pt x="4438877" y="0"/>
                </a:lnTo>
                <a:lnTo>
                  <a:pt x="4438877" y="4446962"/>
                </a:lnTo>
                <a:lnTo>
                  <a:pt x="0" y="44469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2532606" y="8767760"/>
            <a:ext cx="4726694" cy="490540"/>
            <a:chOff x="0" y="0"/>
            <a:chExt cx="3915949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915949" cy="406400"/>
            </a:xfrm>
            <a:custGeom>
              <a:avLst/>
              <a:gdLst/>
              <a:ahLst/>
              <a:cxnLst/>
              <a:rect l="l" t="t" r="r" b="b"/>
              <a:pathLst>
                <a:path w="3915949" h="406400">
                  <a:moveTo>
                    <a:pt x="3712749" y="0"/>
                  </a:moveTo>
                  <a:cubicBezTo>
                    <a:pt x="3824973" y="0"/>
                    <a:pt x="3915949" y="90976"/>
                    <a:pt x="3915949" y="203200"/>
                  </a:cubicBezTo>
                  <a:cubicBezTo>
                    <a:pt x="3915949" y="315424"/>
                    <a:pt x="3824973" y="406400"/>
                    <a:pt x="37127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7CFC3">
                    <a:alpha val="100000"/>
                  </a:srgbClr>
                </a:gs>
                <a:gs pos="100000">
                  <a:srgbClr val="F08EA2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3915949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3028931" y="8767273"/>
            <a:ext cx="373404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endParaRPr/>
          </a:p>
        </p:txBody>
      </p:sp>
      <p:sp>
        <p:nvSpPr>
          <p:cNvPr id="10" name="Freeform 10"/>
          <p:cNvSpPr/>
          <p:nvPr/>
        </p:nvSpPr>
        <p:spPr>
          <a:xfrm rot="-2454844">
            <a:off x="4743234" y="3413037"/>
            <a:ext cx="20299771" cy="6754287"/>
          </a:xfrm>
          <a:custGeom>
            <a:avLst/>
            <a:gdLst/>
            <a:ahLst/>
            <a:cxnLst/>
            <a:rect l="l" t="t" r="r" b="b"/>
            <a:pathLst>
              <a:path w="20299771" h="6754287">
                <a:moveTo>
                  <a:pt x="0" y="0"/>
                </a:moveTo>
                <a:lnTo>
                  <a:pt x="20299771" y="0"/>
                </a:lnTo>
                <a:lnTo>
                  <a:pt x="20299771" y="6754288"/>
                </a:lnTo>
                <a:lnTo>
                  <a:pt x="0" y="6754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38607" y="3250727"/>
            <a:ext cx="16620693" cy="48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1081" lvl="1" indent="-370540" algn="just">
              <a:lnSpc>
                <a:spcPts val="4805"/>
              </a:lnSpc>
              <a:buFont typeface="Arial"/>
              <a:buChar char="•"/>
            </a:pPr>
            <a:r>
              <a:rPr lang="en-US" sz="3432">
                <a:solidFill>
                  <a:srgbClr val="20419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Hardware + setup fee: Charge customers for the camera device, installation, label-template configuration, and staff training.</a:t>
            </a:r>
          </a:p>
          <a:p>
            <a:pPr marL="741081" lvl="1" indent="-370540" algn="just">
              <a:lnSpc>
                <a:spcPts val="4805"/>
              </a:lnSpc>
              <a:buFont typeface="Arial"/>
              <a:buChar char="•"/>
            </a:pPr>
            <a:r>
              <a:rPr lang="en-US" sz="3432">
                <a:solidFill>
                  <a:srgbClr val="20419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Monthly subscription: Charge a monthly fee for dashboard access, inspection history, updates, and technical support.</a:t>
            </a:r>
          </a:p>
          <a:p>
            <a:pPr marL="741081" lvl="1" indent="-370540" algn="just">
              <a:lnSpc>
                <a:spcPts val="4805"/>
              </a:lnSpc>
              <a:buFont typeface="Arial"/>
              <a:buChar char="•"/>
            </a:pPr>
            <a:r>
              <a:rPr lang="en-US" sz="3432">
                <a:solidFill>
                  <a:srgbClr val="20419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Enterprise/customisation fee: Charge extra for custom label templates, multiple inspection stations, integration with warehouse systems, or OCR features.</a:t>
            </a:r>
          </a:p>
          <a:p>
            <a:pPr marL="741081" lvl="1" indent="-370540" algn="just">
              <a:lnSpc>
                <a:spcPts val="4805"/>
              </a:lnSpc>
              <a:buFont typeface="Arial"/>
              <a:buChar char="•"/>
            </a:pPr>
            <a:r>
              <a:rPr lang="en-US" sz="3432">
                <a:solidFill>
                  <a:srgbClr val="20419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Maintenance service: Offer periodic calibration, system maintenance, and model/template updates.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7CFC3">
                <a:alpha val="100000"/>
              </a:srgbClr>
            </a:gs>
            <a:gs pos="100000">
              <a:srgbClr val="F08EA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864831" flipH="1">
            <a:off x="-4568671" y="3075263"/>
            <a:ext cx="21822962" cy="7261095"/>
          </a:xfrm>
          <a:custGeom>
            <a:avLst/>
            <a:gdLst/>
            <a:ahLst/>
            <a:cxnLst/>
            <a:rect l="l" t="t" r="r" b="b"/>
            <a:pathLst>
              <a:path w="21822962" h="7261095">
                <a:moveTo>
                  <a:pt x="21822962" y="0"/>
                </a:moveTo>
                <a:lnTo>
                  <a:pt x="0" y="0"/>
                </a:lnTo>
                <a:lnTo>
                  <a:pt x="0" y="7261095"/>
                </a:lnTo>
                <a:lnTo>
                  <a:pt x="21822962" y="7261095"/>
                </a:lnTo>
                <a:lnTo>
                  <a:pt x="21822962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98095" y="2534719"/>
            <a:ext cx="14781928" cy="5328365"/>
            <a:chOff x="0" y="0"/>
            <a:chExt cx="3893183" cy="140335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93183" cy="1403355"/>
            </a:xfrm>
            <a:custGeom>
              <a:avLst/>
              <a:gdLst/>
              <a:ahLst/>
              <a:cxnLst/>
              <a:rect l="l" t="t" r="r" b="b"/>
              <a:pathLst>
                <a:path w="3893183" h="1403355">
                  <a:moveTo>
                    <a:pt x="15189" y="0"/>
                  </a:moveTo>
                  <a:lnTo>
                    <a:pt x="3877994" y="0"/>
                  </a:lnTo>
                  <a:cubicBezTo>
                    <a:pt x="3882023" y="0"/>
                    <a:pt x="3885886" y="1600"/>
                    <a:pt x="3888734" y="4449"/>
                  </a:cubicBezTo>
                  <a:cubicBezTo>
                    <a:pt x="3891583" y="7297"/>
                    <a:pt x="3893183" y="11160"/>
                    <a:pt x="3893183" y="15189"/>
                  </a:cubicBezTo>
                  <a:lnTo>
                    <a:pt x="3893183" y="1388167"/>
                  </a:lnTo>
                  <a:cubicBezTo>
                    <a:pt x="3893183" y="1396555"/>
                    <a:pt x="3886383" y="1403355"/>
                    <a:pt x="3877994" y="1403355"/>
                  </a:cubicBezTo>
                  <a:lnTo>
                    <a:pt x="15189" y="1403355"/>
                  </a:lnTo>
                  <a:cubicBezTo>
                    <a:pt x="6800" y="1403355"/>
                    <a:pt x="0" y="1396555"/>
                    <a:pt x="0" y="1388167"/>
                  </a:cubicBezTo>
                  <a:lnTo>
                    <a:pt x="0" y="15189"/>
                  </a:lnTo>
                  <a:cubicBezTo>
                    <a:pt x="0" y="6800"/>
                    <a:pt x="6800" y="0"/>
                    <a:pt x="15189" y="0"/>
                  </a:cubicBezTo>
                  <a:close/>
                </a:path>
              </a:pathLst>
            </a:custGeom>
            <a:solidFill>
              <a:srgbClr val="F2F3F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893183" cy="1460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7055059" y="1028700"/>
            <a:ext cx="1675621" cy="3401366"/>
          </a:xfrm>
          <a:custGeom>
            <a:avLst/>
            <a:gdLst/>
            <a:ahLst/>
            <a:cxnLst/>
            <a:rect l="l" t="t" r="r" b="b"/>
            <a:pathLst>
              <a:path w="1675621" h="3401366">
                <a:moveTo>
                  <a:pt x="1675621" y="0"/>
                </a:moveTo>
                <a:lnTo>
                  <a:pt x="0" y="0"/>
                </a:lnTo>
                <a:lnTo>
                  <a:pt x="0" y="3401366"/>
                </a:lnTo>
                <a:lnTo>
                  <a:pt x="1675621" y="3401366"/>
                </a:lnTo>
                <a:lnTo>
                  <a:pt x="1675621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646921" y="1028700"/>
            <a:ext cx="1675621" cy="3401366"/>
          </a:xfrm>
          <a:custGeom>
            <a:avLst/>
            <a:gdLst/>
            <a:ahLst/>
            <a:cxnLst/>
            <a:rect l="l" t="t" r="r" b="b"/>
            <a:pathLst>
              <a:path w="1675621" h="3401366">
                <a:moveTo>
                  <a:pt x="0" y="0"/>
                </a:moveTo>
                <a:lnTo>
                  <a:pt x="1675621" y="0"/>
                </a:lnTo>
                <a:lnTo>
                  <a:pt x="1675621" y="3401366"/>
                </a:lnTo>
                <a:lnTo>
                  <a:pt x="0" y="34013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754171" y="1192771"/>
            <a:ext cx="1647551" cy="200702"/>
          </a:xfrm>
          <a:custGeom>
            <a:avLst/>
            <a:gdLst/>
            <a:ahLst/>
            <a:cxnLst/>
            <a:rect l="l" t="t" r="r" b="b"/>
            <a:pathLst>
              <a:path w="1647551" h="200702">
                <a:moveTo>
                  <a:pt x="0" y="0"/>
                </a:moveTo>
                <a:lnTo>
                  <a:pt x="1647550" y="0"/>
                </a:lnTo>
                <a:lnTo>
                  <a:pt x="1647550" y="200702"/>
                </a:lnTo>
                <a:lnTo>
                  <a:pt x="0" y="20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12972163" y="-4028288"/>
            <a:ext cx="5211566" cy="5221059"/>
          </a:xfrm>
          <a:custGeom>
            <a:avLst/>
            <a:gdLst/>
            <a:ahLst/>
            <a:cxnLst/>
            <a:rect l="l" t="t" r="r" b="b"/>
            <a:pathLst>
              <a:path w="5211566" h="5221059">
                <a:moveTo>
                  <a:pt x="0" y="0"/>
                </a:moveTo>
                <a:lnTo>
                  <a:pt x="5211566" y="0"/>
                </a:lnTo>
                <a:lnTo>
                  <a:pt x="5211566" y="5221059"/>
                </a:lnTo>
                <a:lnTo>
                  <a:pt x="0" y="5221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-1073490" y="9486900"/>
            <a:ext cx="5211566" cy="5221059"/>
          </a:xfrm>
          <a:custGeom>
            <a:avLst/>
            <a:gdLst/>
            <a:ahLst/>
            <a:cxnLst/>
            <a:rect l="l" t="t" r="r" b="b"/>
            <a:pathLst>
              <a:path w="5211566" h="5221059">
                <a:moveTo>
                  <a:pt x="0" y="0"/>
                </a:moveTo>
                <a:lnTo>
                  <a:pt x="5211566" y="0"/>
                </a:lnTo>
                <a:lnTo>
                  <a:pt x="5211566" y="5221059"/>
                </a:lnTo>
                <a:lnTo>
                  <a:pt x="0" y="5221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833377" y="1604014"/>
            <a:ext cx="10477500" cy="57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10"/>
              </a:lnSpc>
              <a:spcBef>
                <a:spcPct val="0"/>
              </a:spcBef>
            </a:pPr>
            <a:r>
              <a:rPr lang="en-US" sz="4200" b="1">
                <a:solidFill>
                  <a:srgbClr val="20419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Inspection Results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89808" y="3169603"/>
            <a:ext cx="13504142" cy="3900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4C489E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PASS: </a:t>
            </a:r>
            <a:r>
              <a:rPr lang="en-US" sz="3200">
                <a:solidFill>
                  <a:srgbClr val="4C489E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All five fields are detected and classified as filled.</a:t>
            </a:r>
          </a:p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4C489E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FAIL:</a:t>
            </a:r>
            <a:r>
              <a:rPr lang="en-US" sz="3200">
                <a:solidFill>
                  <a:srgbClr val="4C489E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 All five fields are detected, but at least one is classified as empty.</a:t>
            </a:r>
          </a:p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4C489E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RETAKE:</a:t>
            </a:r>
            <a:r>
              <a:rPr lang="en-US" sz="3200">
                <a:solidFill>
                  <a:srgbClr val="4C489E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the detected field count or arrangement does not meet the inspection requirements.</a:t>
            </a:r>
          </a:p>
          <a:p>
            <a:pPr algn="just">
              <a:lnSpc>
                <a:spcPts val="4480"/>
              </a:lnSpc>
              <a:spcBef>
                <a:spcPct val="0"/>
              </a:spcBef>
            </a:pPr>
            <a:endParaRPr lang="en-US" sz="3200">
              <a:solidFill>
                <a:srgbClr val="4C489E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4C489E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OCR text is saved in a CSV file that can be opened in Excel. Images and inspection details are also stored.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7CFC3">
                <a:alpha val="100000"/>
              </a:srgbClr>
            </a:gs>
            <a:gs pos="100000">
              <a:srgbClr val="F08EA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864831" flipH="1">
            <a:off x="-4568671" y="3075263"/>
            <a:ext cx="21822962" cy="7261095"/>
          </a:xfrm>
          <a:custGeom>
            <a:avLst/>
            <a:gdLst/>
            <a:ahLst/>
            <a:cxnLst/>
            <a:rect l="l" t="t" r="r" b="b"/>
            <a:pathLst>
              <a:path w="21822962" h="7261095">
                <a:moveTo>
                  <a:pt x="21822962" y="0"/>
                </a:moveTo>
                <a:lnTo>
                  <a:pt x="0" y="0"/>
                </a:lnTo>
                <a:lnTo>
                  <a:pt x="0" y="7261095"/>
                </a:lnTo>
                <a:lnTo>
                  <a:pt x="21822962" y="7261095"/>
                </a:lnTo>
                <a:lnTo>
                  <a:pt x="21822962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7055059" y="1028700"/>
            <a:ext cx="1675621" cy="3401366"/>
          </a:xfrm>
          <a:custGeom>
            <a:avLst/>
            <a:gdLst/>
            <a:ahLst/>
            <a:cxnLst/>
            <a:rect l="l" t="t" r="r" b="b"/>
            <a:pathLst>
              <a:path w="1675621" h="3401366">
                <a:moveTo>
                  <a:pt x="1675621" y="0"/>
                </a:moveTo>
                <a:lnTo>
                  <a:pt x="0" y="0"/>
                </a:lnTo>
                <a:lnTo>
                  <a:pt x="0" y="3401366"/>
                </a:lnTo>
                <a:lnTo>
                  <a:pt x="1675621" y="3401366"/>
                </a:lnTo>
                <a:lnTo>
                  <a:pt x="1675621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646921" y="1028700"/>
            <a:ext cx="1675621" cy="3401366"/>
          </a:xfrm>
          <a:custGeom>
            <a:avLst/>
            <a:gdLst/>
            <a:ahLst/>
            <a:cxnLst/>
            <a:rect l="l" t="t" r="r" b="b"/>
            <a:pathLst>
              <a:path w="1675621" h="3401366">
                <a:moveTo>
                  <a:pt x="0" y="0"/>
                </a:moveTo>
                <a:lnTo>
                  <a:pt x="1675621" y="0"/>
                </a:lnTo>
                <a:lnTo>
                  <a:pt x="1675621" y="3401366"/>
                </a:lnTo>
                <a:lnTo>
                  <a:pt x="0" y="34013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54171" y="1192771"/>
            <a:ext cx="1647551" cy="200702"/>
          </a:xfrm>
          <a:custGeom>
            <a:avLst/>
            <a:gdLst/>
            <a:ahLst/>
            <a:cxnLst/>
            <a:rect l="l" t="t" r="r" b="b"/>
            <a:pathLst>
              <a:path w="1647551" h="200702">
                <a:moveTo>
                  <a:pt x="0" y="0"/>
                </a:moveTo>
                <a:lnTo>
                  <a:pt x="1647550" y="0"/>
                </a:lnTo>
                <a:lnTo>
                  <a:pt x="1647550" y="200702"/>
                </a:lnTo>
                <a:lnTo>
                  <a:pt x="0" y="20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12972163" y="-4028288"/>
            <a:ext cx="5211566" cy="5221059"/>
          </a:xfrm>
          <a:custGeom>
            <a:avLst/>
            <a:gdLst/>
            <a:ahLst/>
            <a:cxnLst/>
            <a:rect l="l" t="t" r="r" b="b"/>
            <a:pathLst>
              <a:path w="5211566" h="5221059">
                <a:moveTo>
                  <a:pt x="0" y="0"/>
                </a:moveTo>
                <a:lnTo>
                  <a:pt x="5211566" y="0"/>
                </a:lnTo>
                <a:lnTo>
                  <a:pt x="5211566" y="5221059"/>
                </a:lnTo>
                <a:lnTo>
                  <a:pt x="0" y="5221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>
            <a:off x="-1073490" y="9486900"/>
            <a:ext cx="5211566" cy="5221059"/>
          </a:xfrm>
          <a:custGeom>
            <a:avLst/>
            <a:gdLst/>
            <a:ahLst/>
            <a:cxnLst/>
            <a:rect l="l" t="t" r="r" b="b"/>
            <a:pathLst>
              <a:path w="5211566" h="5221059">
                <a:moveTo>
                  <a:pt x="0" y="0"/>
                </a:moveTo>
                <a:lnTo>
                  <a:pt x="5211566" y="0"/>
                </a:lnTo>
                <a:lnTo>
                  <a:pt x="5211566" y="5221059"/>
                </a:lnTo>
                <a:lnTo>
                  <a:pt x="0" y="5221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24452" y="974652"/>
            <a:ext cx="16855778" cy="9038911"/>
          </a:xfrm>
          <a:custGeom>
            <a:avLst/>
            <a:gdLst/>
            <a:ahLst/>
            <a:cxnLst/>
            <a:rect l="l" t="t" r="r" b="b"/>
            <a:pathLst>
              <a:path w="16855778" h="9038911">
                <a:moveTo>
                  <a:pt x="0" y="0"/>
                </a:moveTo>
                <a:lnTo>
                  <a:pt x="16855777" y="0"/>
                </a:lnTo>
                <a:lnTo>
                  <a:pt x="16855777" y="9038911"/>
                </a:lnTo>
                <a:lnTo>
                  <a:pt x="0" y="90389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366095" y="227516"/>
            <a:ext cx="10477500" cy="57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10"/>
              </a:lnSpc>
              <a:spcBef>
                <a:spcPct val="0"/>
              </a:spcBef>
            </a:pPr>
            <a:r>
              <a:rPr lang="en-US" sz="4200" b="1">
                <a:solidFill>
                  <a:srgbClr val="20419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Dashboard Example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344591" flipH="1">
            <a:off x="-3561422" y="5173956"/>
            <a:ext cx="20299771" cy="6754287"/>
          </a:xfrm>
          <a:custGeom>
            <a:avLst/>
            <a:gdLst/>
            <a:ahLst/>
            <a:cxnLst/>
            <a:rect l="l" t="t" r="r" b="b"/>
            <a:pathLst>
              <a:path w="20299771" h="6754287">
                <a:moveTo>
                  <a:pt x="20299770" y="0"/>
                </a:moveTo>
                <a:lnTo>
                  <a:pt x="0" y="0"/>
                </a:lnTo>
                <a:lnTo>
                  <a:pt x="0" y="6754287"/>
                </a:lnTo>
                <a:lnTo>
                  <a:pt x="20299770" y="6754287"/>
                </a:lnTo>
                <a:lnTo>
                  <a:pt x="2029977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04701" y="6789856"/>
            <a:ext cx="1216033" cy="2468444"/>
          </a:xfrm>
          <a:custGeom>
            <a:avLst/>
            <a:gdLst/>
            <a:ahLst/>
            <a:cxnLst/>
            <a:rect l="l" t="t" r="r" b="b"/>
            <a:pathLst>
              <a:path w="1216033" h="2468444">
                <a:moveTo>
                  <a:pt x="0" y="0"/>
                </a:moveTo>
                <a:lnTo>
                  <a:pt x="1216033" y="0"/>
                </a:lnTo>
                <a:lnTo>
                  <a:pt x="1216033" y="2468444"/>
                </a:lnTo>
                <a:lnTo>
                  <a:pt x="0" y="24684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>
            <a:off x="16136517" y="7394729"/>
            <a:ext cx="2245565" cy="4558305"/>
          </a:xfrm>
          <a:custGeom>
            <a:avLst/>
            <a:gdLst/>
            <a:ahLst/>
            <a:cxnLst/>
            <a:rect l="l" t="t" r="r" b="b"/>
            <a:pathLst>
              <a:path w="2245565" h="4558305">
                <a:moveTo>
                  <a:pt x="2245566" y="0"/>
                </a:moveTo>
                <a:lnTo>
                  <a:pt x="0" y="0"/>
                </a:lnTo>
                <a:lnTo>
                  <a:pt x="0" y="4558306"/>
                </a:lnTo>
                <a:lnTo>
                  <a:pt x="2245566" y="4558306"/>
                </a:lnTo>
                <a:lnTo>
                  <a:pt x="2245566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171694">
            <a:off x="11249471" y="-3887171"/>
            <a:ext cx="6058172" cy="6069207"/>
          </a:xfrm>
          <a:custGeom>
            <a:avLst/>
            <a:gdLst/>
            <a:ahLst/>
            <a:cxnLst/>
            <a:rect l="l" t="t" r="r" b="b"/>
            <a:pathLst>
              <a:path w="6058172" h="6069207">
                <a:moveTo>
                  <a:pt x="0" y="0"/>
                </a:moveTo>
                <a:lnTo>
                  <a:pt x="6058172" y="0"/>
                </a:lnTo>
                <a:lnTo>
                  <a:pt x="6058172" y="6069206"/>
                </a:lnTo>
                <a:lnTo>
                  <a:pt x="0" y="60692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654810"/>
            <a:ext cx="6179482" cy="541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r>
              <a:rPr lang="en-US" sz="4200" b="1">
                <a:solidFill>
                  <a:srgbClr val="A94BC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Results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401128" y="7778808"/>
            <a:ext cx="4726694" cy="490540"/>
            <a:chOff x="0" y="0"/>
            <a:chExt cx="3915949" cy="406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915949" cy="406400"/>
            </a:xfrm>
            <a:custGeom>
              <a:avLst/>
              <a:gdLst/>
              <a:ahLst/>
              <a:cxnLst/>
              <a:rect l="l" t="t" r="r" b="b"/>
              <a:pathLst>
                <a:path w="3915949" h="406400">
                  <a:moveTo>
                    <a:pt x="3712749" y="0"/>
                  </a:moveTo>
                  <a:cubicBezTo>
                    <a:pt x="3824973" y="0"/>
                    <a:pt x="3915949" y="90976"/>
                    <a:pt x="3915949" y="203200"/>
                  </a:cubicBezTo>
                  <a:cubicBezTo>
                    <a:pt x="3915949" y="315424"/>
                    <a:pt x="3824973" y="406400"/>
                    <a:pt x="37127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7CFC3">
                    <a:alpha val="100000"/>
                  </a:srgbClr>
                </a:gs>
                <a:gs pos="100000">
                  <a:srgbClr val="F08EA2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3915949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525025" y="8767273"/>
            <a:ext cx="373404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11049625" y="8767760"/>
            <a:ext cx="666145" cy="660506"/>
          </a:xfrm>
          <a:custGeom>
            <a:avLst/>
            <a:gdLst/>
            <a:ahLst/>
            <a:cxnLst/>
            <a:rect l="l" t="t" r="r" b="b"/>
            <a:pathLst>
              <a:path w="666145" h="660506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06388" r="-103152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811332" y="2323599"/>
            <a:ext cx="14168816" cy="2242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1767" lvl="1" indent="-345884" algn="just">
              <a:lnSpc>
                <a:spcPts val="4485"/>
              </a:lnSpc>
              <a:buFont typeface="Arial"/>
              <a:buChar char="•"/>
            </a:pPr>
            <a:r>
              <a:rPr lang="en-US" sz="3204">
                <a:solidFill>
                  <a:srgbClr val="20419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All filled/empty combinations on the demo template passed detection checks.</a:t>
            </a:r>
          </a:p>
          <a:p>
            <a:pPr marL="691767" lvl="1" indent="-345884" algn="just">
              <a:lnSpc>
                <a:spcPts val="4485"/>
              </a:lnSpc>
              <a:buFont typeface="Arial"/>
              <a:buChar char="•"/>
            </a:pPr>
            <a:r>
              <a:rPr lang="en-US" sz="3204">
                <a:solidFill>
                  <a:srgbClr val="20419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OCR successfully read four demo label examples.</a:t>
            </a:r>
          </a:p>
          <a:p>
            <a:pPr marL="691767" lvl="1" indent="-345884" algn="just">
              <a:lnSpc>
                <a:spcPts val="4485"/>
              </a:lnSpc>
              <a:buFont typeface="Arial"/>
              <a:buChar char="•"/>
            </a:pPr>
            <a:r>
              <a:rPr lang="en-US" sz="3204">
                <a:solidFill>
                  <a:srgbClr val="20419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The YOLO11n model was trained using synthetic images.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6341586"/>
            <a:ext cx="12988524" cy="1682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421" lvl="1" indent="-345210" algn="just">
              <a:lnSpc>
                <a:spcPts val="4477"/>
              </a:lnSpc>
              <a:buFont typeface="Arial"/>
              <a:buChar char="•"/>
            </a:pPr>
            <a:r>
              <a:rPr lang="en-US" sz="3197">
                <a:solidFill>
                  <a:srgbClr val="20419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Blur, reflections and camera angles can affect results.</a:t>
            </a:r>
          </a:p>
          <a:p>
            <a:pPr marL="690421" lvl="1" indent="-345210" algn="just">
              <a:lnSpc>
                <a:spcPts val="4477"/>
              </a:lnSpc>
              <a:buFont typeface="Arial"/>
              <a:buChar char="•"/>
            </a:pPr>
            <a:r>
              <a:rPr lang="en-US" sz="3197">
                <a:solidFill>
                  <a:srgbClr val="20419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system does not verify whether an address, date or other information is valid.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5730497"/>
            <a:ext cx="6179482" cy="541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r>
              <a:rPr lang="en-US" sz="4200" b="1" u="none" strike="noStrike">
                <a:solidFill>
                  <a:srgbClr val="A94BC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Limitations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9279059" y="8121712"/>
            <a:ext cx="1730858" cy="3513494"/>
          </a:xfrm>
          <a:custGeom>
            <a:avLst/>
            <a:gdLst/>
            <a:ahLst/>
            <a:cxnLst/>
            <a:rect l="l" t="t" r="r" b="b"/>
            <a:pathLst>
              <a:path w="1730858" h="3513494">
                <a:moveTo>
                  <a:pt x="1730858" y="0"/>
                </a:moveTo>
                <a:lnTo>
                  <a:pt x="0" y="0"/>
                </a:lnTo>
                <a:lnTo>
                  <a:pt x="0" y="3513494"/>
                </a:lnTo>
                <a:lnTo>
                  <a:pt x="1730858" y="3513494"/>
                </a:lnTo>
                <a:lnTo>
                  <a:pt x="1730858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V="1">
            <a:off x="-279147" y="-1633942"/>
            <a:ext cx="2490075" cy="5054639"/>
          </a:xfrm>
          <a:custGeom>
            <a:avLst/>
            <a:gdLst/>
            <a:ahLst/>
            <a:cxnLst/>
            <a:rect l="l" t="t" r="r" b="b"/>
            <a:pathLst>
              <a:path w="2490075" h="5054639">
                <a:moveTo>
                  <a:pt x="0" y="5054639"/>
                </a:moveTo>
                <a:lnTo>
                  <a:pt x="2490075" y="5054639"/>
                </a:lnTo>
                <a:lnTo>
                  <a:pt x="2490075" y="0"/>
                </a:lnTo>
                <a:lnTo>
                  <a:pt x="0" y="0"/>
                </a:lnTo>
                <a:lnTo>
                  <a:pt x="0" y="5054639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65891" y="2565393"/>
            <a:ext cx="7312739" cy="541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r>
              <a:rPr lang="en-US" sz="4200" b="1">
                <a:solidFill>
                  <a:srgbClr val="A94BC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Future Improvements</a:t>
            </a:r>
          </a:p>
        </p:txBody>
      </p:sp>
      <p:sp>
        <p:nvSpPr>
          <p:cNvPr id="5" name="Freeform 5"/>
          <p:cNvSpPr/>
          <p:nvPr/>
        </p:nvSpPr>
        <p:spPr>
          <a:xfrm rot="-10800000">
            <a:off x="6168303" y="-2760652"/>
            <a:ext cx="4438877" cy="4446962"/>
          </a:xfrm>
          <a:custGeom>
            <a:avLst/>
            <a:gdLst/>
            <a:ahLst/>
            <a:cxnLst/>
            <a:rect l="l" t="t" r="r" b="b"/>
            <a:pathLst>
              <a:path w="4438877" h="4446962">
                <a:moveTo>
                  <a:pt x="0" y="0"/>
                </a:moveTo>
                <a:lnTo>
                  <a:pt x="4438877" y="0"/>
                </a:lnTo>
                <a:lnTo>
                  <a:pt x="4438877" y="4446962"/>
                </a:lnTo>
                <a:lnTo>
                  <a:pt x="0" y="44469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2532606" y="8767760"/>
            <a:ext cx="4726694" cy="490540"/>
            <a:chOff x="0" y="0"/>
            <a:chExt cx="3915949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915949" cy="406400"/>
            </a:xfrm>
            <a:custGeom>
              <a:avLst/>
              <a:gdLst/>
              <a:ahLst/>
              <a:cxnLst/>
              <a:rect l="l" t="t" r="r" b="b"/>
              <a:pathLst>
                <a:path w="3915949" h="406400">
                  <a:moveTo>
                    <a:pt x="3712749" y="0"/>
                  </a:moveTo>
                  <a:cubicBezTo>
                    <a:pt x="3824973" y="0"/>
                    <a:pt x="3915949" y="90976"/>
                    <a:pt x="3915949" y="203200"/>
                  </a:cubicBezTo>
                  <a:cubicBezTo>
                    <a:pt x="3915949" y="315424"/>
                    <a:pt x="3824973" y="406400"/>
                    <a:pt x="37127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7CFC3">
                    <a:alpha val="100000"/>
                  </a:srgbClr>
                </a:gs>
                <a:gs pos="100000">
                  <a:srgbClr val="F08EA2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3915949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3028931" y="8767273"/>
            <a:ext cx="373404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endParaRPr/>
          </a:p>
        </p:txBody>
      </p:sp>
      <p:sp>
        <p:nvSpPr>
          <p:cNvPr id="10" name="Freeform 10"/>
          <p:cNvSpPr/>
          <p:nvPr/>
        </p:nvSpPr>
        <p:spPr>
          <a:xfrm rot="-2454844">
            <a:off x="4743234" y="3413037"/>
            <a:ext cx="20299771" cy="6754287"/>
          </a:xfrm>
          <a:custGeom>
            <a:avLst/>
            <a:gdLst/>
            <a:ahLst/>
            <a:cxnLst/>
            <a:rect l="l" t="t" r="r" b="b"/>
            <a:pathLst>
              <a:path w="20299771" h="6754287">
                <a:moveTo>
                  <a:pt x="0" y="0"/>
                </a:moveTo>
                <a:lnTo>
                  <a:pt x="20299771" y="0"/>
                </a:lnTo>
                <a:lnTo>
                  <a:pt x="20299771" y="6754288"/>
                </a:lnTo>
                <a:lnTo>
                  <a:pt x="0" y="6754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26847" y="3588679"/>
            <a:ext cx="10988143" cy="42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1081" lvl="1" indent="-370540" algn="just">
              <a:lnSpc>
                <a:spcPts val="4805"/>
              </a:lnSpc>
              <a:buFont typeface="Arial"/>
              <a:buChar char="•"/>
            </a:pPr>
            <a:r>
              <a:rPr lang="en-US" sz="3432">
                <a:solidFill>
                  <a:srgbClr val="20419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Add real camera images for training and evaluation</a:t>
            </a:r>
          </a:p>
          <a:p>
            <a:pPr marL="741081" lvl="1" indent="-370540" algn="just">
              <a:lnSpc>
                <a:spcPts val="4805"/>
              </a:lnSpc>
              <a:buFont typeface="Arial"/>
              <a:buChar char="•"/>
            </a:pPr>
            <a:r>
              <a:rPr lang="en-US" sz="3432">
                <a:solidFill>
                  <a:srgbClr val="20419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Support different label layouts</a:t>
            </a:r>
          </a:p>
          <a:p>
            <a:pPr marL="741081" lvl="1" indent="-370540" algn="just">
              <a:lnSpc>
                <a:spcPts val="4805"/>
              </a:lnSpc>
              <a:buFont typeface="Arial"/>
              <a:buChar char="•"/>
            </a:pPr>
            <a:r>
              <a:rPr lang="en-US" sz="3432">
                <a:solidFill>
                  <a:srgbClr val="20419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Validate parcel ID, postcode and date formats</a:t>
            </a:r>
          </a:p>
          <a:p>
            <a:pPr marL="741081" lvl="1" indent="-370540" algn="just">
              <a:lnSpc>
                <a:spcPts val="4805"/>
              </a:lnSpc>
              <a:buFont typeface="Arial"/>
              <a:buChar char="•"/>
            </a:pPr>
            <a:r>
              <a:rPr lang="en-US" sz="3432">
                <a:solidFill>
                  <a:srgbClr val="20419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Trace parcel per batch number.</a:t>
            </a:r>
          </a:p>
          <a:p>
            <a:pPr marL="741081" lvl="1" indent="-370540" algn="just">
              <a:lnSpc>
                <a:spcPts val="4805"/>
              </a:lnSpc>
              <a:buFont typeface="Arial"/>
              <a:buChar char="•"/>
            </a:pPr>
            <a:r>
              <a:rPr lang="en-US" sz="3432">
                <a:solidFill>
                  <a:srgbClr val="20419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Add barcode or QR code reading</a:t>
            </a:r>
          </a:p>
          <a:p>
            <a:pPr marL="741081" lvl="1" indent="-370540" algn="just">
              <a:lnSpc>
                <a:spcPts val="4805"/>
              </a:lnSpc>
              <a:buFont typeface="Arial"/>
              <a:buChar char="•"/>
            </a:pPr>
            <a:r>
              <a:rPr lang="en-US" sz="3432">
                <a:solidFill>
                  <a:srgbClr val="20419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Test the system in an actual parcel inspection workflow</a:t>
            </a:r>
          </a:p>
        </p:txBody>
      </p:sp>
      <p:sp>
        <p:nvSpPr>
          <p:cNvPr id="12" name="Freeform 12"/>
          <p:cNvSpPr/>
          <p:nvPr/>
        </p:nvSpPr>
        <p:spPr>
          <a:xfrm>
            <a:off x="11272521" y="2470143"/>
            <a:ext cx="6286500" cy="4714875"/>
          </a:xfrm>
          <a:custGeom>
            <a:avLst/>
            <a:gdLst/>
            <a:ahLst/>
            <a:cxnLst/>
            <a:rect l="l" t="t" r="r" b="b"/>
            <a:pathLst>
              <a:path w="6286500" h="4714875">
                <a:moveTo>
                  <a:pt x="0" y="0"/>
                </a:moveTo>
                <a:lnTo>
                  <a:pt x="6286500" y="0"/>
                </a:lnTo>
                <a:lnTo>
                  <a:pt x="6286500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6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7CFC3">
                <a:alpha val="100000"/>
              </a:srgbClr>
            </a:gs>
            <a:gs pos="100000">
              <a:srgbClr val="F08EA2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26617">
            <a:off x="3395976" y="3190853"/>
            <a:ext cx="20299771" cy="6754287"/>
          </a:xfrm>
          <a:custGeom>
            <a:avLst/>
            <a:gdLst/>
            <a:ahLst/>
            <a:cxnLst/>
            <a:rect l="l" t="t" r="r" b="b"/>
            <a:pathLst>
              <a:path w="20299771" h="6754287">
                <a:moveTo>
                  <a:pt x="0" y="0"/>
                </a:moveTo>
                <a:lnTo>
                  <a:pt x="20299771" y="0"/>
                </a:lnTo>
                <a:lnTo>
                  <a:pt x="20299771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841392" y="587451"/>
            <a:ext cx="9122342" cy="9105756"/>
          </a:xfrm>
          <a:custGeom>
            <a:avLst/>
            <a:gdLst/>
            <a:ahLst/>
            <a:cxnLst/>
            <a:rect l="l" t="t" r="r" b="b"/>
            <a:pathLst>
              <a:path w="9122342" h="9105756">
                <a:moveTo>
                  <a:pt x="0" y="0"/>
                </a:moveTo>
                <a:lnTo>
                  <a:pt x="9122342" y="0"/>
                </a:lnTo>
                <a:lnTo>
                  <a:pt x="9122342" y="9105756"/>
                </a:lnTo>
                <a:lnTo>
                  <a:pt x="0" y="91057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157946">
            <a:off x="10971715" y="1704128"/>
            <a:ext cx="7674174" cy="2885362"/>
          </a:xfrm>
          <a:custGeom>
            <a:avLst/>
            <a:gdLst/>
            <a:ahLst/>
            <a:cxnLst/>
            <a:rect l="l" t="t" r="r" b="b"/>
            <a:pathLst>
              <a:path w="7674174" h="2885362">
                <a:moveTo>
                  <a:pt x="0" y="0"/>
                </a:moveTo>
                <a:lnTo>
                  <a:pt x="7674174" y="0"/>
                </a:lnTo>
                <a:lnTo>
                  <a:pt x="7674174" y="2885362"/>
                </a:lnTo>
                <a:lnTo>
                  <a:pt x="0" y="28853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32984"/>
            </a:stretch>
          </a:blipFill>
        </p:spPr>
      </p:sp>
      <p:sp>
        <p:nvSpPr>
          <p:cNvPr id="5" name="Freeform 5"/>
          <p:cNvSpPr/>
          <p:nvPr/>
        </p:nvSpPr>
        <p:spPr>
          <a:xfrm rot="2157946" flipV="1">
            <a:off x="8438712" y="4719029"/>
            <a:ext cx="7674174" cy="3837087"/>
          </a:xfrm>
          <a:custGeom>
            <a:avLst/>
            <a:gdLst/>
            <a:ahLst/>
            <a:cxnLst/>
            <a:rect l="l" t="t" r="r" b="b"/>
            <a:pathLst>
              <a:path w="7674174" h="3837087">
                <a:moveTo>
                  <a:pt x="0" y="3837087"/>
                </a:moveTo>
                <a:lnTo>
                  <a:pt x="7674174" y="3837087"/>
                </a:lnTo>
                <a:lnTo>
                  <a:pt x="7674174" y="0"/>
                </a:lnTo>
                <a:lnTo>
                  <a:pt x="0" y="0"/>
                </a:lnTo>
                <a:lnTo>
                  <a:pt x="0" y="383708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9975622" y="1713388"/>
            <a:ext cx="6853883" cy="685388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3F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176794" y="1914560"/>
            <a:ext cx="6451538" cy="645153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16666" r="-16666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-458594" y="5993565"/>
            <a:ext cx="1519526" cy="3084508"/>
          </a:xfrm>
          <a:custGeom>
            <a:avLst/>
            <a:gdLst/>
            <a:ahLst/>
            <a:cxnLst/>
            <a:rect l="l" t="t" r="r" b="b"/>
            <a:pathLst>
              <a:path w="1519526" h="3084508">
                <a:moveTo>
                  <a:pt x="0" y="0"/>
                </a:moveTo>
                <a:lnTo>
                  <a:pt x="1519526" y="0"/>
                </a:lnTo>
                <a:lnTo>
                  <a:pt x="1519526" y="3084508"/>
                </a:lnTo>
                <a:lnTo>
                  <a:pt x="0" y="30845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>
            <a:off x="16818832" y="0"/>
            <a:ext cx="2071591" cy="4205152"/>
          </a:xfrm>
          <a:custGeom>
            <a:avLst/>
            <a:gdLst/>
            <a:ahLst/>
            <a:cxnLst/>
            <a:rect l="l" t="t" r="r" b="b"/>
            <a:pathLst>
              <a:path w="2071591" h="4205152">
                <a:moveTo>
                  <a:pt x="2071591" y="0"/>
                </a:moveTo>
                <a:lnTo>
                  <a:pt x="0" y="0"/>
                </a:lnTo>
                <a:lnTo>
                  <a:pt x="0" y="4205152"/>
                </a:lnTo>
                <a:lnTo>
                  <a:pt x="2071591" y="4205152"/>
                </a:lnTo>
                <a:lnTo>
                  <a:pt x="2071591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60932" y="8585592"/>
            <a:ext cx="672708" cy="672708"/>
          </a:xfrm>
          <a:custGeom>
            <a:avLst/>
            <a:gdLst/>
            <a:ahLst/>
            <a:cxnLst/>
            <a:rect l="l" t="t" r="r" b="b"/>
            <a:pathLst>
              <a:path w="672708" h="672708">
                <a:moveTo>
                  <a:pt x="0" y="0"/>
                </a:moveTo>
                <a:lnTo>
                  <a:pt x="672709" y="0"/>
                </a:lnTo>
                <a:lnTo>
                  <a:pt x="672709" y="672708"/>
                </a:lnTo>
                <a:lnTo>
                  <a:pt x="0" y="672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481992" y="-3498726"/>
            <a:ext cx="4793807" cy="4802539"/>
          </a:xfrm>
          <a:custGeom>
            <a:avLst/>
            <a:gdLst/>
            <a:ahLst/>
            <a:cxnLst/>
            <a:rect l="l" t="t" r="r" b="b"/>
            <a:pathLst>
              <a:path w="4793807" h="4802539">
                <a:moveTo>
                  <a:pt x="0" y="0"/>
                </a:moveTo>
                <a:lnTo>
                  <a:pt x="4793807" y="0"/>
                </a:lnTo>
                <a:lnTo>
                  <a:pt x="4793807" y="4802539"/>
                </a:lnTo>
                <a:lnTo>
                  <a:pt x="0" y="4802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108917" y="8366098"/>
            <a:ext cx="4940090" cy="4949088"/>
          </a:xfrm>
          <a:custGeom>
            <a:avLst/>
            <a:gdLst/>
            <a:ahLst/>
            <a:cxnLst/>
            <a:rect l="l" t="t" r="r" b="b"/>
            <a:pathLst>
              <a:path w="4940090" h="4949088">
                <a:moveTo>
                  <a:pt x="0" y="0"/>
                </a:moveTo>
                <a:lnTo>
                  <a:pt x="4940090" y="0"/>
                </a:lnTo>
                <a:lnTo>
                  <a:pt x="4940090" y="4949088"/>
                </a:lnTo>
                <a:lnTo>
                  <a:pt x="0" y="49490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7496449" y="2218183"/>
            <a:ext cx="1647551" cy="200702"/>
          </a:xfrm>
          <a:custGeom>
            <a:avLst/>
            <a:gdLst/>
            <a:ahLst/>
            <a:cxnLst/>
            <a:rect l="l" t="t" r="r" b="b"/>
            <a:pathLst>
              <a:path w="1647551" h="200702">
                <a:moveTo>
                  <a:pt x="0" y="0"/>
                </a:moveTo>
                <a:lnTo>
                  <a:pt x="1647551" y="0"/>
                </a:lnTo>
                <a:lnTo>
                  <a:pt x="1647551" y="200701"/>
                </a:lnTo>
                <a:lnTo>
                  <a:pt x="0" y="2007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9510649" y="8082370"/>
            <a:ext cx="666145" cy="660506"/>
          </a:xfrm>
          <a:custGeom>
            <a:avLst/>
            <a:gdLst/>
            <a:ahLst/>
            <a:cxnLst/>
            <a:rect l="l" t="t" r="r" b="b"/>
            <a:pathLst>
              <a:path w="666145" h="660506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106388" r="-103152"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3876998" y="6909959"/>
            <a:ext cx="6299796" cy="768899"/>
            <a:chOff x="0" y="0"/>
            <a:chExt cx="3329743" cy="406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329743" cy="406400"/>
            </a:xfrm>
            <a:custGeom>
              <a:avLst/>
              <a:gdLst/>
              <a:ahLst/>
              <a:cxnLst/>
              <a:rect l="l" t="t" r="r" b="b"/>
              <a:pathLst>
                <a:path w="3329743" h="406400">
                  <a:moveTo>
                    <a:pt x="3126543" y="0"/>
                  </a:moveTo>
                  <a:cubicBezTo>
                    <a:pt x="3238767" y="0"/>
                    <a:pt x="3329743" y="90976"/>
                    <a:pt x="3329743" y="203200"/>
                  </a:cubicBezTo>
                  <a:cubicBezTo>
                    <a:pt x="3329743" y="315424"/>
                    <a:pt x="3238767" y="406400"/>
                    <a:pt x="312654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7CFC3">
                    <a:alpha val="100000"/>
                  </a:srgbClr>
                </a:gs>
                <a:gs pos="100000">
                  <a:srgbClr val="F08EA2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3329743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28700" y="3528169"/>
            <a:ext cx="6228661" cy="195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550"/>
              </a:lnSpc>
            </a:pPr>
            <a:r>
              <a:rPr lang="en-US" sz="15000" b="1">
                <a:solidFill>
                  <a:srgbClr val="A94BC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Thank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5171814"/>
            <a:ext cx="3429263" cy="195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550"/>
              </a:lnSpc>
            </a:pPr>
            <a:r>
              <a:rPr lang="en-US" sz="15000" b="1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You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799119" y="6968703"/>
            <a:ext cx="4455554" cy="584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  <a:spcBef>
                <a:spcPct val="0"/>
              </a:spcBef>
            </a:pPr>
            <a:r>
              <a:rPr lang="en-US" sz="3454">
                <a:solidFill>
                  <a:srgbClr val="20419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615</Words>
  <Application>Microsoft Office PowerPoint</Application>
  <PresentationFormat>Custom</PresentationFormat>
  <Paragraphs>74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TT Interphases Bold</vt:lpstr>
      <vt:lpstr>TT Interphases</vt:lpstr>
      <vt:lpstr>Arial</vt:lpstr>
      <vt:lpstr>Canva Sans</vt:lpstr>
      <vt:lpstr>Canva Sans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Parcel Label Field Completeness Inspection System</dc:title>
  <dc:creator>Radhiah</dc:creator>
  <cp:lastModifiedBy>chik siti</cp:lastModifiedBy>
  <cp:revision>2</cp:revision>
  <dcterms:created xsi:type="dcterms:W3CDTF">2006-08-16T00:00:00Z</dcterms:created>
  <dcterms:modified xsi:type="dcterms:W3CDTF">2026-09-09T08:15:27Z</dcterms:modified>
  <dc:identifier>DAHUoMO1r-U</dc:identifier>
</cp:coreProperties>
</file>